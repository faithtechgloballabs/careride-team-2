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Imagine having somewhere important to be, but no reliable way to get there. We are Derek, Kenton, Eashan, and Chong. This is CareRide: a little help, a way forward. Connecting people to the care they need.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Picture a neighbour who has a medical appointment. The staff member wants to help. A volunteer might have a seat in their car. But connecting those people can mean calls, messages, and uncertainty. This is an illustrative scenario, not a client testimonial. On pitch night, Belkin Communities of Hope brought us this challenge: clients need to reach hospitals, shelters, and essential services, but some lack smartphones or the digital access to arrange rides independently. Staff step in, yet there is no centralized way to request, track, and share those rides. Our understanding was that transportation and coordination are connected problems. We needed to support the staff-client relationship already in place, rather than assume every client could use another app.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If we make that connection easier, three things become possible: a client has a more reachable path to essential care, staff can coordinate with less uncertainty, and a volunteer can turn willingness into practical help. We are addressing one barrier for people experiencing homelessness and other vulnerable neighbours. The same workflow could support other shelters, churches, service organizations, and transportation providers. That is potential, not a confirmed network. We have not measured savings or how many people this will reach. A real pilot should establish whether the journeys happen and whether staff and clients find the experience useful.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We built a hackathon MVP around one complete journey. Staff book a free ride on a client's behalf, an organization-approved driver accepts an eligible request, and staff follow pickup through drop-off. The key design choice is staff-mediated access: the client does not need a smartphone or an account in this version. Saved pickup points and destinations make the request easier to arrange. Each organization approves drivers for its own rides. We chose this focused workflow so we could demonstrate a useful path before adding more features. Our core assumptions are that organizations can support approval and coordination, and enough eligible drivers will be available. Those need testing with real operations. This is an MVP, with more work required before a supported transport service.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seconds.
DEMO WINDOW: 3:00–5:00. Use prepared staff and driver sessions with synthetic records.
0:00–0:15: Show staff workspace. Say: "Staff act on the client's behalf."
0:15–0:45: Choose a sample client, saved pickup and destination, and an eligible pickup time. Submit one one-way ride.
0:45–1:15: Switch to the prepared organization-approved driver. Open and accept the eligible request.
1:15–1:40: Show pickup and drop-off actions.
1:40–2:00: Return to staff and show completion and the in-app update. Say: "One shared journey, from request to care."
Do not narrate a feature tour. Skip registration, uploads, settings, and configuration. If the live demo fails, use the two authentic screenshots on this slide and explain the intended handoff. Verify eligibility and availability before presenting. Clearly say whether demonstrating browser screen-demo mode or the live API. Screenshots are actual local app screens using synthetic data; they do not establish current live backend health. Dashboard sample savings are not evidence of impact.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Our work came together across the staff and driver experience, backend, notifications, and deployment. The shared goal was one complete journey, from a staff request to a driver's completion update. One concrete challenge was integration. The repository documents a notification issue where the interface and backend did not agree after routes were merged. Bringing those parts together meant repairing the API and checking the handoff, rather than treating each screen as finished on its own. The project notes also record a browser check of the staff-to-driver path. The lesson we take from that work is simple: finish one useful path, then test the connections between the parts. For a person waiting on a ride, those connections are the product. Before presenting, add one brief true sentence about who did what and one personal moment from the weekend. Individual roles and personal anecdotes have not been confirmed; do not invent them.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Thank you to the organizers, project representatives, and everyone who helped build this weekend. Next, we want to validate the workflow with staff and a willing organization, agree driver approval and operating procedures, and strengthen the frontend, API, and database integration for a supported pilot. We also need to understand the organization's technical environment and agree who will maintain the product. You can help us test it, offer a ride, or keep building. The repository is linked here for anyone who wants to explore further. CareRide: a little help, a way forward. Connecting people to the care they need.
Sources: supplied CareRide brief pp.19–21; organizer guidelines; docs/PROGRESS.md; docs/NOTIFICATION_MERGE_FIX.md; current repository source. Independent platform; unconfirmed partners; illustrative demo data.
Repository: https://github.com/FaithTechGlobalLabs/CareRide-Team-2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FaithTechGlobalLabs/CareRide-Team-2"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FaithTechGlobalLabs/CareRide-Team-2"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5D4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01 / 07</a:t>
            </a:r>
            <a:endParaRPr lang="en-US" sz="1000" dirty="0"/>
          </a:p>
        </p:txBody>
      </p:sp>
      <p:sp>
        <p:nvSpPr>
          <p:cNvPr id="6" name="Text 3"/>
          <p:cNvSpPr/>
          <p:nvPr/>
        </p:nvSpPr>
        <p:spPr>
          <a:xfrm>
            <a:off x="594360" y="1042416"/>
            <a:ext cx="6766560" cy="283464"/>
          </a:xfrm>
          <a:prstGeom prst="rect">
            <a:avLst/>
          </a:prstGeom>
          <a:noFill/>
          <a:ln/>
        </p:spPr>
        <p:txBody>
          <a:bodyPr wrap="square" lIns="0" tIns="0" rIns="0" bIns="0" rtlCol="0" anchor="ctr"/>
          <a:lstStyle/>
          <a:p>
            <a:pPr indent="0" marL="0">
              <a:buNone/>
            </a:pPr>
            <a:r>
              <a:rPr lang="en-US" sz="1100" b="1" dirty="0">
                <a:solidFill>
                  <a:srgbClr val="E8F3ED"/>
                </a:solidFill>
                <a:latin typeface="Arial" pitchFamily="34" charset="0"/>
                <a:ea typeface="Arial" pitchFamily="34" charset="-122"/>
                <a:cs typeface="Arial" pitchFamily="34" charset="-120"/>
              </a:rPr>
              <a:t>PROJECT UPDATE  /  A REDEMPTIVE TECHNOLOGY HACKATHON</a:t>
            </a:r>
            <a:endParaRPr lang="en-US" sz="1100" dirty="0"/>
          </a:p>
        </p:txBody>
      </p:sp>
      <p:sp>
        <p:nvSpPr>
          <p:cNvPr id="7" name="Text 4"/>
          <p:cNvSpPr/>
          <p:nvPr/>
        </p:nvSpPr>
        <p:spPr>
          <a:xfrm>
            <a:off x="594360" y="1719072"/>
            <a:ext cx="6400800" cy="914400"/>
          </a:xfrm>
          <a:prstGeom prst="rect">
            <a:avLst/>
          </a:prstGeom>
          <a:noFill/>
          <a:ln/>
        </p:spPr>
        <p:txBody>
          <a:bodyPr wrap="square" lIns="0" tIns="0" rIns="0" bIns="0" rtlCol="0" anchor="ctr"/>
          <a:lstStyle/>
          <a:p>
            <a:pPr indent="0" marL="0">
              <a:buNone/>
            </a:pPr>
            <a:r>
              <a:rPr lang="en-US" sz="5700" dirty="0">
                <a:solidFill>
                  <a:srgbClr val="FFFFFF"/>
                </a:solidFill>
                <a:latin typeface="Georgia" pitchFamily="34" charset="0"/>
                <a:ea typeface="Georgia" pitchFamily="34" charset="-122"/>
                <a:cs typeface="Georgia" pitchFamily="34" charset="-120"/>
              </a:rPr>
              <a:t>CareRide</a:t>
            </a:r>
            <a:endParaRPr lang="en-US" sz="5700" dirty="0"/>
          </a:p>
        </p:txBody>
      </p:sp>
      <p:sp>
        <p:nvSpPr>
          <p:cNvPr id="8" name="Text 5"/>
          <p:cNvSpPr/>
          <p:nvPr/>
        </p:nvSpPr>
        <p:spPr>
          <a:xfrm>
            <a:off x="621792" y="2807208"/>
            <a:ext cx="6400800" cy="521208"/>
          </a:xfrm>
          <a:prstGeom prst="rect">
            <a:avLst/>
          </a:prstGeom>
          <a:noFill/>
          <a:ln/>
        </p:spPr>
        <p:txBody>
          <a:bodyPr wrap="square" lIns="0" tIns="0" rIns="0" bIns="0" rtlCol="0" anchor="ctr"/>
          <a:lstStyle/>
          <a:p>
            <a:pPr indent="0" marL="0">
              <a:buNone/>
            </a:pPr>
            <a:r>
              <a:rPr lang="en-US" sz="2900" dirty="0">
                <a:solidFill>
                  <a:srgbClr val="FFFFFF"/>
                </a:solidFill>
                <a:latin typeface="Georgia" pitchFamily="34" charset="0"/>
                <a:ea typeface="Georgia" pitchFamily="34" charset="-122"/>
                <a:cs typeface="Georgia" pitchFamily="34" charset="-120"/>
              </a:rPr>
              <a:t>A little help, A way forward.</a:t>
            </a:r>
            <a:endParaRPr lang="en-US" sz="2900" dirty="0"/>
          </a:p>
        </p:txBody>
      </p:sp>
      <p:sp>
        <p:nvSpPr>
          <p:cNvPr id="9" name="Text 6"/>
          <p:cNvSpPr/>
          <p:nvPr/>
        </p:nvSpPr>
        <p:spPr>
          <a:xfrm>
            <a:off x="621792" y="3493008"/>
            <a:ext cx="6400800" cy="420624"/>
          </a:xfrm>
          <a:prstGeom prst="rect">
            <a:avLst/>
          </a:prstGeom>
          <a:noFill/>
          <a:ln/>
        </p:spPr>
        <p:txBody>
          <a:bodyPr wrap="square" lIns="0" tIns="0" rIns="0" bIns="0" rtlCol="0" anchor="ctr"/>
          <a:lstStyle/>
          <a:p>
            <a:pPr indent="0" marL="0">
              <a:buNone/>
            </a:pPr>
            <a:r>
              <a:rPr lang="en-US" sz="2100" dirty="0">
                <a:solidFill>
                  <a:srgbClr val="E8F3ED"/>
                </a:solidFill>
                <a:latin typeface="Arial" pitchFamily="34" charset="0"/>
                <a:ea typeface="Arial" pitchFamily="34" charset="-122"/>
                <a:cs typeface="Arial" pitchFamily="34" charset="-120"/>
              </a:rPr>
              <a:t>Connecting people to the care they need.</a:t>
            </a:r>
            <a:endParaRPr lang="en-US" sz="2100" dirty="0"/>
          </a:p>
        </p:txBody>
      </p:sp>
      <p:sp>
        <p:nvSpPr>
          <p:cNvPr id="10" name="Text 7"/>
          <p:cNvSpPr/>
          <p:nvPr/>
        </p:nvSpPr>
        <p:spPr>
          <a:xfrm>
            <a:off x="621792" y="4315968"/>
            <a:ext cx="6263640" cy="1078992"/>
          </a:xfrm>
          <a:prstGeom prst="rect">
            <a:avLst/>
          </a:prstGeom>
          <a:noFill/>
          <a:ln/>
        </p:spPr>
        <p:txBody>
          <a:bodyPr wrap="square" lIns="0" tIns="0" rIns="0" bIns="0" rtlCol="0" anchor="ctr"/>
          <a:lstStyle/>
          <a:p>
            <a:pPr indent="0" marL="0">
              <a:buNone/>
            </a:pPr>
            <a:r>
              <a:rPr lang="en-US" sz="2100" dirty="0">
                <a:solidFill>
                  <a:srgbClr val="FFFFFF"/>
                </a:solidFill>
                <a:latin typeface="Arial" pitchFamily="34" charset="0"/>
                <a:ea typeface="Arial" pitchFamily="34" charset="-122"/>
                <a:cs typeface="Arial" pitchFamily="34" charset="-120"/>
              </a:rPr>
              <a:t>People without reliable transport or digital access</a:t>
            </a:r>
            <a:endParaRPr lang="en-US" sz="2100" dirty="0"/>
          </a:p>
          <a:p>
            <a:pPr indent="0" marL="0">
              <a:buNone/>
            </a:pPr>
            <a:r>
              <a:rPr lang="en-US" sz="2100" dirty="0">
                <a:solidFill>
                  <a:srgbClr val="FFFFFF"/>
                </a:solidFill>
                <a:latin typeface="Arial" pitchFamily="34" charset="0"/>
                <a:ea typeface="Arial" pitchFamily="34" charset="-122"/>
                <a:cs typeface="Arial" pitchFamily="34" charset="-120"/>
              </a:rPr>
              <a:t>can struggle to reach hospitals, shelters,</a:t>
            </a:r>
            <a:endParaRPr lang="en-US" sz="2100" dirty="0"/>
          </a:p>
          <a:p>
            <a:pPr indent="0" marL="0">
              <a:buNone/>
            </a:pPr>
            <a:r>
              <a:rPr lang="en-US" sz="2100" dirty="0">
                <a:solidFill>
                  <a:srgbClr val="FFFFFF"/>
                </a:solidFill>
                <a:latin typeface="Arial" pitchFamily="34" charset="0"/>
                <a:ea typeface="Arial" pitchFamily="34" charset="-122"/>
                <a:cs typeface="Arial" pitchFamily="34" charset="-120"/>
              </a:rPr>
              <a:t>and essential services.</a:t>
            </a:r>
            <a:endParaRPr lang="en-US" sz="2100" dirty="0"/>
          </a:p>
        </p:txBody>
      </p:sp>
      <p:sp>
        <p:nvSpPr>
          <p:cNvPr id="11" name="Shape 8"/>
          <p:cNvSpPr/>
          <p:nvPr/>
        </p:nvSpPr>
        <p:spPr>
          <a:xfrm>
            <a:off x="7571232" y="1472184"/>
            <a:ext cx="1627632" cy="1600200"/>
          </a:xfrm>
          <a:prstGeom prst="roundRect">
            <a:avLst>
              <a:gd name="adj" fmla="val 6857"/>
            </a:avLst>
          </a:prstGeom>
          <a:solidFill>
            <a:srgbClr val="E8F3ED"/>
          </a:solidFill>
          <a:ln w="12700">
            <a:solidFill>
              <a:srgbClr val="E8F3ED">
                <a:alpha val="0"/>
              </a:srgbClr>
            </a:solidFill>
            <a:prstDash val="solid"/>
          </a:ln>
        </p:spPr>
      </p:sp>
      <p:sp>
        <p:nvSpPr>
          <p:cNvPr id="12" name="Shape 9"/>
          <p:cNvSpPr/>
          <p:nvPr/>
        </p:nvSpPr>
        <p:spPr>
          <a:xfrm>
            <a:off x="8065008" y="1719072"/>
            <a:ext cx="640080" cy="640080"/>
          </a:xfrm>
          <a:prstGeom prst="ellipse">
            <a:avLst/>
          </a:prstGeom>
          <a:solidFill>
            <a:srgbClr val="F7F4ED"/>
          </a:solidFill>
          <a:ln w="12700">
            <a:solidFill>
              <a:srgbClr val="B5CEC0"/>
            </a:solidFill>
            <a:prstDash val="solid"/>
          </a:ln>
        </p:spPr>
      </p:sp>
      <p:sp>
        <p:nvSpPr>
          <p:cNvPr id="13" name="Text 10"/>
          <p:cNvSpPr/>
          <p:nvPr/>
        </p:nvSpPr>
        <p:spPr>
          <a:xfrm>
            <a:off x="7735824" y="2468880"/>
            <a:ext cx="1298448" cy="210312"/>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Add photo</a:t>
            </a:r>
            <a:endParaRPr lang="en-US" sz="1000" dirty="0"/>
          </a:p>
        </p:txBody>
      </p:sp>
      <p:sp>
        <p:nvSpPr>
          <p:cNvPr id="14" name="Text 11"/>
          <p:cNvSpPr/>
          <p:nvPr/>
        </p:nvSpPr>
        <p:spPr>
          <a:xfrm>
            <a:off x="7571232" y="3163824"/>
            <a:ext cx="1627632" cy="2560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Derek</a:t>
            </a:r>
            <a:endParaRPr lang="en-US" sz="1800" dirty="0"/>
          </a:p>
        </p:txBody>
      </p:sp>
      <p:sp>
        <p:nvSpPr>
          <p:cNvPr id="15" name="Shape 12"/>
          <p:cNvSpPr/>
          <p:nvPr/>
        </p:nvSpPr>
        <p:spPr>
          <a:xfrm>
            <a:off x="9509760" y="1472184"/>
            <a:ext cx="1627632" cy="1600200"/>
          </a:xfrm>
          <a:prstGeom prst="roundRect">
            <a:avLst>
              <a:gd name="adj" fmla="val 6857"/>
            </a:avLst>
          </a:prstGeom>
          <a:solidFill>
            <a:srgbClr val="E8F3ED"/>
          </a:solidFill>
          <a:ln w="12700">
            <a:solidFill>
              <a:srgbClr val="E8F3ED">
                <a:alpha val="0"/>
              </a:srgbClr>
            </a:solidFill>
            <a:prstDash val="solid"/>
          </a:ln>
        </p:spPr>
      </p:sp>
      <p:sp>
        <p:nvSpPr>
          <p:cNvPr id="16" name="Shape 13"/>
          <p:cNvSpPr/>
          <p:nvPr/>
        </p:nvSpPr>
        <p:spPr>
          <a:xfrm>
            <a:off x="10003536" y="1719072"/>
            <a:ext cx="640080" cy="640080"/>
          </a:xfrm>
          <a:prstGeom prst="ellipse">
            <a:avLst/>
          </a:prstGeom>
          <a:solidFill>
            <a:srgbClr val="F7F4ED"/>
          </a:solidFill>
          <a:ln w="12700">
            <a:solidFill>
              <a:srgbClr val="B5CEC0"/>
            </a:solidFill>
            <a:prstDash val="solid"/>
          </a:ln>
        </p:spPr>
      </p:sp>
      <p:sp>
        <p:nvSpPr>
          <p:cNvPr id="17" name="Text 14"/>
          <p:cNvSpPr/>
          <p:nvPr/>
        </p:nvSpPr>
        <p:spPr>
          <a:xfrm>
            <a:off x="9674352" y="2468880"/>
            <a:ext cx="1298448" cy="210312"/>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Add photo</a:t>
            </a:r>
            <a:endParaRPr lang="en-US" sz="1000" dirty="0"/>
          </a:p>
        </p:txBody>
      </p:sp>
      <p:sp>
        <p:nvSpPr>
          <p:cNvPr id="18" name="Text 15"/>
          <p:cNvSpPr/>
          <p:nvPr/>
        </p:nvSpPr>
        <p:spPr>
          <a:xfrm>
            <a:off x="9509760" y="3163824"/>
            <a:ext cx="1627632" cy="2560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Kenton</a:t>
            </a:r>
            <a:endParaRPr lang="en-US" sz="1800" dirty="0"/>
          </a:p>
        </p:txBody>
      </p:sp>
      <p:sp>
        <p:nvSpPr>
          <p:cNvPr id="19" name="Shape 16"/>
          <p:cNvSpPr/>
          <p:nvPr/>
        </p:nvSpPr>
        <p:spPr>
          <a:xfrm>
            <a:off x="7571232" y="3520440"/>
            <a:ext cx="1627632" cy="1600200"/>
          </a:xfrm>
          <a:prstGeom prst="roundRect">
            <a:avLst>
              <a:gd name="adj" fmla="val 6857"/>
            </a:avLst>
          </a:prstGeom>
          <a:solidFill>
            <a:srgbClr val="E8F3ED"/>
          </a:solidFill>
          <a:ln w="12700">
            <a:solidFill>
              <a:srgbClr val="E8F3ED">
                <a:alpha val="0"/>
              </a:srgbClr>
            </a:solidFill>
            <a:prstDash val="solid"/>
          </a:ln>
        </p:spPr>
      </p:sp>
      <p:sp>
        <p:nvSpPr>
          <p:cNvPr id="20" name="Shape 17"/>
          <p:cNvSpPr/>
          <p:nvPr/>
        </p:nvSpPr>
        <p:spPr>
          <a:xfrm>
            <a:off x="8065008" y="3767328"/>
            <a:ext cx="640080" cy="640080"/>
          </a:xfrm>
          <a:prstGeom prst="ellipse">
            <a:avLst/>
          </a:prstGeom>
          <a:solidFill>
            <a:srgbClr val="F7F4ED"/>
          </a:solidFill>
          <a:ln w="12700">
            <a:solidFill>
              <a:srgbClr val="B5CEC0"/>
            </a:solidFill>
            <a:prstDash val="solid"/>
          </a:ln>
        </p:spPr>
      </p:sp>
      <p:sp>
        <p:nvSpPr>
          <p:cNvPr id="21" name="Text 18"/>
          <p:cNvSpPr/>
          <p:nvPr/>
        </p:nvSpPr>
        <p:spPr>
          <a:xfrm>
            <a:off x="7735824" y="4517136"/>
            <a:ext cx="1298448" cy="210312"/>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Add photo</a:t>
            </a:r>
            <a:endParaRPr lang="en-US" sz="1000" dirty="0"/>
          </a:p>
        </p:txBody>
      </p:sp>
      <p:sp>
        <p:nvSpPr>
          <p:cNvPr id="22" name="Text 19"/>
          <p:cNvSpPr/>
          <p:nvPr/>
        </p:nvSpPr>
        <p:spPr>
          <a:xfrm>
            <a:off x="7571232" y="5212080"/>
            <a:ext cx="1627632" cy="2560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Eashan</a:t>
            </a:r>
            <a:endParaRPr lang="en-US" sz="1800" dirty="0"/>
          </a:p>
        </p:txBody>
      </p:sp>
      <p:sp>
        <p:nvSpPr>
          <p:cNvPr id="23" name="Shape 20"/>
          <p:cNvSpPr/>
          <p:nvPr/>
        </p:nvSpPr>
        <p:spPr>
          <a:xfrm>
            <a:off x="9509760" y="3520440"/>
            <a:ext cx="1627632" cy="1600200"/>
          </a:xfrm>
          <a:prstGeom prst="roundRect">
            <a:avLst>
              <a:gd name="adj" fmla="val 6857"/>
            </a:avLst>
          </a:prstGeom>
          <a:solidFill>
            <a:srgbClr val="E8F3ED"/>
          </a:solidFill>
          <a:ln w="12700">
            <a:solidFill>
              <a:srgbClr val="E8F3ED">
                <a:alpha val="0"/>
              </a:srgbClr>
            </a:solidFill>
            <a:prstDash val="solid"/>
          </a:ln>
        </p:spPr>
      </p:sp>
      <p:sp>
        <p:nvSpPr>
          <p:cNvPr id="24" name="Shape 21"/>
          <p:cNvSpPr/>
          <p:nvPr/>
        </p:nvSpPr>
        <p:spPr>
          <a:xfrm>
            <a:off x="10003536" y="3767328"/>
            <a:ext cx="640080" cy="640080"/>
          </a:xfrm>
          <a:prstGeom prst="ellipse">
            <a:avLst/>
          </a:prstGeom>
          <a:solidFill>
            <a:srgbClr val="F7F4ED"/>
          </a:solidFill>
          <a:ln w="12700">
            <a:solidFill>
              <a:srgbClr val="B5CEC0"/>
            </a:solidFill>
            <a:prstDash val="solid"/>
          </a:ln>
        </p:spPr>
      </p:sp>
      <p:sp>
        <p:nvSpPr>
          <p:cNvPr id="25" name="Text 22"/>
          <p:cNvSpPr/>
          <p:nvPr/>
        </p:nvSpPr>
        <p:spPr>
          <a:xfrm>
            <a:off x="9674352" y="4517136"/>
            <a:ext cx="1298448" cy="210312"/>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Add photo</a:t>
            </a:r>
            <a:endParaRPr lang="en-US" sz="1000" dirty="0"/>
          </a:p>
        </p:txBody>
      </p:sp>
      <p:sp>
        <p:nvSpPr>
          <p:cNvPr id="26" name="Text 23"/>
          <p:cNvSpPr/>
          <p:nvPr/>
        </p:nvSpPr>
        <p:spPr>
          <a:xfrm>
            <a:off x="9509760" y="5212080"/>
            <a:ext cx="1627632" cy="2560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Chong</a:t>
            </a:r>
            <a:endParaRPr lang="en-US" sz="1800" dirty="0"/>
          </a:p>
        </p:txBody>
      </p:sp>
      <p:sp>
        <p:nvSpPr>
          <p:cNvPr id="27" name="Text 24">
            <a:hlinkClick r:id="rId2" tooltip=""/>
          </p:cNvPr>
          <p:cNvSpPr/>
          <p:nvPr/>
        </p:nvSpPr>
        <p:spPr>
          <a:xfrm>
            <a:off x="594360" y="6135624"/>
            <a:ext cx="10515600" cy="256032"/>
          </a:xfrm>
          <a:prstGeom prst="rect">
            <a:avLst/>
          </a:prstGeom>
          <a:noFill/>
          <a:ln/>
        </p:spPr>
        <p:txBody>
          <a:bodyPr wrap="square" lIns="0" tIns="0" rIns="0" bIns="0" rtlCol="0" anchor="ctr"/>
          <a:lstStyle/>
          <a:p>
            <a:pPr indent="0" marL="0">
              <a:buNone/>
            </a:pPr>
            <a:r>
              <a:rPr lang="en-US" sz="1200" u="sng" dirty="0">
                <a:solidFill>
                  <a:srgbClr val="E8F3E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Explore the project → github.com/FaithTechGlobalLabs/CareRide-Team-2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02 / 07</a:t>
            </a:r>
            <a:endParaRPr lang="en-US" sz="1000" dirty="0"/>
          </a:p>
        </p:txBody>
      </p:sp>
      <p:sp>
        <p:nvSpPr>
          <p:cNvPr id="6" name="Text 3"/>
          <p:cNvSpPr/>
          <p:nvPr/>
        </p:nvSpPr>
        <p:spPr>
          <a:xfrm>
            <a:off x="548640" y="960120"/>
            <a:ext cx="10972800" cy="22860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PROBLEM DEFINITION</a:t>
            </a:r>
            <a:endParaRPr lang="en-US" sz="1100" dirty="0"/>
          </a:p>
        </p:txBody>
      </p:sp>
      <p:sp>
        <p:nvSpPr>
          <p:cNvPr id="7" name="Text 4"/>
          <p:cNvSpPr/>
          <p:nvPr/>
        </p:nvSpPr>
        <p:spPr>
          <a:xfrm>
            <a:off x="548640" y="1389888"/>
            <a:ext cx="10972800" cy="1261872"/>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Care exists.</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Getting there is the gap.</a:t>
            </a:r>
            <a:endParaRPr lang="en-US" sz="3800" dirty="0"/>
          </a:p>
        </p:txBody>
      </p:sp>
      <p:sp>
        <p:nvSpPr>
          <p:cNvPr id="8" name="Shape 5"/>
          <p:cNvSpPr/>
          <p:nvPr/>
        </p:nvSpPr>
        <p:spPr>
          <a:xfrm>
            <a:off x="548640"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9" name="Text 6"/>
          <p:cNvSpPr/>
          <p:nvPr/>
        </p:nvSpPr>
        <p:spPr>
          <a:xfrm>
            <a:off x="777240"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77240"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Essential journeys</a:t>
            </a:r>
            <a:endParaRPr lang="en-US" sz="2300" dirty="0"/>
          </a:p>
        </p:txBody>
      </p:sp>
      <p:sp>
        <p:nvSpPr>
          <p:cNvPr id="11" name="Text 8"/>
          <p:cNvSpPr/>
          <p:nvPr/>
        </p:nvSpPr>
        <p:spPr>
          <a:xfrm>
            <a:off x="777240"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Hospitals, shelters, and services.</a:t>
            </a:r>
            <a:endParaRPr lang="en-US" sz="1800" dirty="0"/>
          </a:p>
        </p:txBody>
      </p:sp>
      <p:sp>
        <p:nvSpPr>
          <p:cNvPr id="12" name="Shape 9"/>
          <p:cNvSpPr/>
          <p:nvPr/>
        </p:nvSpPr>
        <p:spPr>
          <a:xfrm>
            <a:off x="4325112"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3" name="Text 10"/>
          <p:cNvSpPr/>
          <p:nvPr/>
        </p:nvSpPr>
        <p:spPr>
          <a:xfrm>
            <a:off x="4553712"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02</a:t>
            </a:r>
            <a:endParaRPr lang="en-US" sz="1600" dirty="0"/>
          </a:p>
        </p:txBody>
      </p:sp>
      <p:sp>
        <p:nvSpPr>
          <p:cNvPr id="14" name="Text 11"/>
          <p:cNvSpPr/>
          <p:nvPr/>
        </p:nvSpPr>
        <p:spPr>
          <a:xfrm>
            <a:off x="4553712"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Digital barriers</a:t>
            </a:r>
            <a:endParaRPr lang="en-US" sz="2300" dirty="0"/>
          </a:p>
        </p:txBody>
      </p:sp>
      <p:sp>
        <p:nvSpPr>
          <p:cNvPr id="15" name="Text 12"/>
          <p:cNvSpPr/>
          <p:nvPr/>
        </p:nvSpPr>
        <p:spPr>
          <a:xfrm>
            <a:off x="4553712"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Some clients cannot book a ride independently.</a:t>
            </a:r>
            <a:endParaRPr lang="en-US" sz="1800" dirty="0"/>
          </a:p>
        </p:txBody>
      </p:sp>
      <p:sp>
        <p:nvSpPr>
          <p:cNvPr id="16" name="Shape 13"/>
          <p:cNvSpPr/>
          <p:nvPr/>
        </p:nvSpPr>
        <p:spPr>
          <a:xfrm>
            <a:off x="8101584"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7" name="Text 14"/>
          <p:cNvSpPr/>
          <p:nvPr/>
        </p:nvSpPr>
        <p:spPr>
          <a:xfrm>
            <a:off x="8330184"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8330184"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Fragmented coordination</a:t>
            </a:r>
            <a:endParaRPr lang="en-US" sz="2300" dirty="0"/>
          </a:p>
        </p:txBody>
      </p:sp>
      <p:sp>
        <p:nvSpPr>
          <p:cNvPr id="19" name="Text 16"/>
          <p:cNvSpPr/>
          <p:nvPr/>
        </p:nvSpPr>
        <p:spPr>
          <a:xfrm>
            <a:off x="8330184"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Staff need a shared way to arrange and track rides.</a:t>
            </a:r>
            <a:endParaRPr lang="en-US" sz="1800" dirty="0"/>
          </a:p>
        </p:txBody>
      </p:sp>
      <p:sp>
        <p:nvSpPr>
          <p:cNvPr id="20" name="Text 17"/>
          <p:cNvSpPr/>
          <p:nvPr/>
        </p:nvSpPr>
        <p:spPr>
          <a:xfrm>
            <a:off x="594360" y="5733288"/>
            <a:ext cx="10789920" cy="356616"/>
          </a:xfrm>
          <a:prstGeom prst="rect">
            <a:avLst/>
          </a:prstGeom>
          <a:noFill/>
          <a:ln/>
        </p:spPr>
        <p:txBody>
          <a:bodyPr wrap="square" lIns="0" tIns="0" rIns="0" bIns="0" rtlCol="0" anchor="ctr"/>
          <a:lstStyle/>
          <a:p>
            <a:pPr indent="0" marL="0">
              <a:buNone/>
            </a:pPr>
            <a:r>
              <a:rPr lang="en-US" sz="1800" dirty="0">
                <a:solidFill>
                  <a:srgbClr val="285D4D"/>
                </a:solidFill>
                <a:latin typeface="Arial" pitchFamily="34" charset="0"/>
                <a:ea typeface="Arial" pitchFamily="34" charset="-122"/>
                <a:cs typeface="Arial" pitchFamily="34" charset="-120"/>
              </a:rPr>
              <a:t>The Friday challenge: Belkin Communities of Hope, Salvation Army</a:t>
            </a:r>
            <a:endParaRPr lang="en-US" sz="1800" dirty="0"/>
          </a:p>
        </p:txBody>
      </p:sp>
      <p:sp>
        <p:nvSpPr>
          <p:cNvPr id="21" name="Text 18"/>
          <p:cNvSpPr/>
          <p:nvPr/>
        </p:nvSpPr>
        <p:spPr>
          <a:xfrm>
            <a:off x="594360" y="6437376"/>
            <a:ext cx="9784080" cy="155448"/>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Source: supplied project brief, pp. 19–20. CareRide is an independent platform.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03 / 07</a:t>
            </a:r>
            <a:endParaRPr lang="en-US" sz="1000" dirty="0"/>
          </a:p>
        </p:txBody>
      </p:sp>
      <p:sp>
        <p:nvSpPr>
          <p:cNvPr id="6" name="Text 3"/>
          <p:cNvSpPr/>
          <p:nvPr/>
        </p:nvSpPr>
        <p:spPr>
          <a:xfrm>
            <a:off x="548640" y="960120"/>
            <a:ext cx="10972800" cy="22860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POTENTIAL IMPACT</a:t>
            </a:r>
            <a:endParaRPr lang="en-US" sz="1100" dirty="0"/>
          </a:p>
        </p:txBody>
      </p:sp>
      <p:sp>
        <p:nvSpPr>
          <p:cNvPr id="7" name="Text 4"/>
          <p:cNvSpPr/>
          <p:nvPr/>
        </p:nvSpPr>
        <p:spPr>
          <a:xfrm>
            <a:off x="548640" y="1389888"/>
            <a:ext cx="10972800" cy="1261872"/>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A seat in a car can</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open a door to care.</a:t>
            </a:r>
            <a:endParaRPr lang="en-US" sz="3800" dirty="0"/>
          </a:p>
        </p:txBody>
      </p:sp>
      <p:sp>
        <p:nvSpPr>
          <p:cNvPr id="8" name="Shape 5"/>
          <p:cNvSpPr/>
          <p:nvPr/>
        </p:nvSpPr>
        <p:spPr>
          <a:xfrm>
            <a:off x="548640"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9" name="Text 6"/>
          <p:cNvSpPr/>
          <p:nvPr/>
        </p:nvSpPr>
        <p:spPr>
          <a:xfrm>
            <a:off x="777240"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77240"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For clients</a:t>
            </a:r>
            <a:endParaRPr lang="en-US" sz="2300" dirty="0"/>
          </a:p>
        </p:txBody>
      </p:sp>
      <p:sp>
        <p:nvSpPr>
          <p:cNvPr id="11" name="Text 8"/>
          <p:cNvSpPr/>
          <p:nvPr/>
        </p:nvSpPr>
        <p:spPr>
          <a:xfrm>
            <a:off x="777240"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 more reachable path to essential care.</a:t>
            </a:r>
            <a:endParaRPr lang="en-US" sz="1800" dirty="0"/>
          </a:p>
        </p:txBody>
      </p:sp>
      <p:sp>
        <p:nvSpPr>
          <p:cNvPr id="12" name="Shape 9"/>
          <p:cNvSpPr/>
          <p:nvPr/>
        </p:nvSpPr>
        <p:spPr>
          <a:xfrm>
            <a:off x="4325112"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3" name="Text 10"/>
          <p:cNvSpPr/>
          <p:nvPr/>
        </p:nvSpPr>
        <p:spPr>
          <a:xfrm>
            <a:off x="4553712"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02</a:t>
            </a:r>
            <a:endParaRPr lang="en-US" sz="1600" dirty="0"/>
          </a:p>
        </p:txBody>
      </p:sp>
      <p:sp>
        <p:nvSpPr>
          <p:cNvPr id="14" name="Text 11"/>
          <p:cNvSpPr/>
          <p:nvPr/>
        </p:nvSpPr>
        <p:spPr>
          <a:xfrm>
            <a:off x="4553712"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For staff</a:t>
            </a:r>
            <a:endParaRPr lang="en-US" sz="2300" dirty="0"/>
          </a:p>
        </p:txBody>
      </p:sp>
      <p:sp>
        <p:nvSpPr>
          <p:cNvPr id="15" name="Text 12"/>
          <p:cNvSpPr/>
          <p:nvPr/>
        </p:nvSpPr>
        <p:spPr>
          <a:xfrm>
            <a:off x="4553712"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Less uncertainty and fewer scattered handoffs.</a:t>
            </a:r>
            <a:endParaRPr lang="en-US" sz="1800" dirty="0"/>
          </a:p>
        </p:txBody>
      </p:sp>
      <p:sp>
        <p:nvSpPr>
          <p:cNvPr id="16" name="Shape 13"/>
          <p:cNvSpPr/>
          <p:nvPr/>
        </p:nvSpPr>
        <p:spPr>
          <a:xfrm>
            <a:off x="8101584"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7" name="Text 14"/>
          <p:cNvSpPr/>
          <p:nvPr/>
        </p:nvSpPr>
        <p:spPr>
          <a:xfrm>
            <a:off x="8330184"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8330184"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For communities</a:t>
            </a:r>
            <a:endParaRPr lang="en-US" sz="2300" dirty="0"/>
          </a:p>
        </p:txBody>
      </p:sp>
      <p:sp>
        <p:nvSpPr>
          <p:cNvPr id="19" name="Text 16"/>
          <p:cNvSpPr/>
          <p:nvPr/>
        </p:nvSpPr>
        <p:spPr>
          <a:xfrm>
            <a:off x="8330184"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 practical way to turn willingness into help.</a:t>
            </a:r>
            <a:endParaRPr lang="en-US" sz="1800" dirty="0"/>
          </a:p>
        </p:txBody>
      </p:sp>
      <p:sp>
        <p:nvSpPr>
          <p:cNvPr id="20" name="Text 17"/>
          <p:cNvSpPr/>
          <p:nvPr/>
        </p:nvSpPr>
        <p:spPr>
          <a:xfrm>
            <a:off x="594360" y="5687568"/>
            <a:ext cx="10789920" cy="402336"/>
          </a:xfrm>
          <a:prstGeom prst="rect">
            <a:avLst/>
          </a:prstGeom>
          <a:noFill/>
          <a:ln/>
        </p:spPr>
        <p:txBody>
          <a:bodyPr wrap="square" lIns="0" tIns="0" rIns="0" bIns="0" rtlCol="0" anchor="ctr"/>
          <a:lstStyle/>
          <a:p>
            <a:pPr indent="0" marL="0">
              <a:buNone/>
            </a:pPr>
            <a:r>
              <a:rPr lang="en-US" sz="1800" dirty="0">
                <a:solidFill>
                  <a:srgbClr val="285D4D"/>
                </a:solidFill>
                <a:latin typeface="Arial" pitchFamily="34" charset="0"/>
                <a:ea typeface="Arial" pitchFamily="34" charset="-122"/>
                <a:cs typeface="Arial" pitchFamily="34" charset="-120"/>
              </a:rPr>
              <a:t>Potential to serve more shelters, churches, and service organizations.</a:t>
            </a:r>
            <a:endParaRPr lang="en-US" sz="1800" dirty="0"/>
          </a:p>
        </p:txBody>
      </p:sp>
      <p:sp>
        <p:nvSpPr>
          <p:cNvPr id="21" name="Text 18"/>
          <p:cNvSpPr/>
          <p:nvPr/>
        </p:nvSpPr>
        <p:spPr>
          <a:xfrm>
            <a:off x="594360" y="6437376"/>
            <a:ext cx="9784080" cy="164592"/>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Potential impact; partnerships and measured outcomes remain to be validated.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04 / 07</a:t>
            </a:r>
            <a:endParaRPr lang="en-US" sz="1000" dirty="0"/>
          </a:p>
        </p:txBody>
      </p:sp>
      <p:sp>
        <p:nvSpPr>
          <p:cNvPr id="6" name="Text 3"/>
          <p:cNvSpPr/>
          <p:nvPr/>
        </p:nvSpPr>
        <p:spPr>
          <a:xfrm>
            <a:off x="548640" y="960120"/>
            <a:ext cx="10972800" cy="22860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OUR APPROACH</a:t>
            </a:r>
            <a:endParaRPr lang="en-US" sz="1100" dirty="0"/>
          </a:p>
        </p:txBody>
      </p:sp>
      <p:sp>
        <p:nvSpPr>
          <p:cNvPr id="7" name="Text 4"/>
          <p:cNvSpPr/>
          <p:nvPr/>
        </p:nvSpPr>
        <p:spPr>
          <a:xfrm>
            <a:off x="548640" y="1389888"/>
            <a:ext cx="10972800" cy="1261872"/>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Staff arrange. Drivers respond.</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Care stays connected.</a:t>
            </a:r>
            <a:endParaRPr lang="en-US" sz="3800" dirty="0"/>
          </a:p>
        </p:txBody>
      </p:sp>
      <p:pic>
        <p:nvPicPr>
          <p:cNvPr id="8" name="Image 1" descr="/Users/kentonbell/Documents/GitHub/CareRide-Team-2/output/presentation/assets/heart-handshake.png">    </p:cNvPr>
          <p:cNvPicPr>
            <a:picLocks noChangeAspect="1"/>
          </p:cNvPicPr>
          <p:nvPr/>
        </p:nvPicPr>
        <p:blipFill>
          <a:blip r:embed="rId2"/>
          <a:stretch>
            <a:fillRect/>
          </a:stretch>
        </p:blipFill>
        <p:spPr>
          <a:xfrm>
            <a:off x="1728216" y="2907792"/>
            <a:ext cx="960120" cy="960120"/>
          </a:xfrm>
          <a:prstGeom prst="rect">
            <a:avLst/>
          </a:prstGeom>
        </p:spPr>
      </p:pic>
      <p:sp>
        <p:nvSpPr>
          <p:cNvPr id="9" name="Text 5"/>
          <p:cNvSpPr/>
          <p:nvPr/>
        </p:nvSpPr>
        <p:spPr>
          <a:xfrm>
            <a:off x="731520" y="4151376"/>
            <a:ext cx="3200400" cy="38404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Staff book</a:t>
            </a:r>
            <a:endParaRPr lang="en-US" sz="2300" dirty="0"/>
          </a:p>
        </p:txBody>
      </p:sp>
      <p:pic>
        <p:nvPicPr>
          <p:cNvPr id="10" name="Image 2" descr="/Users/kentonbell/Documents/GitHub/CareRide-Team-2/output/presentation/assets/car-front.png">    </p:cNvPr>
          <p:cNvPicPr>
            <a:picLocks noChangeAspect="1"/>
          </p:cNvPicPr>
          <p:nvPr/>
        </p:nvPicPr>
        <p:blipFill>
          <a:blip r:embed="rId3"/>
          <a:stretch>
            <a:fillRect/>
          </a:stretch>
        </p:blipFill>
        <p:spPr>
          <a:xfrm>
            <a:off x="5495544" y="2907792"/>
            <a:ext cx="960120" cy="960120"/>
          </a:xfrm>
          <a:prstGeom prst="rect">
            <a:avLst/>
          </a:prstGeom>
        </p:spPr>
      </p:pic>
      <p:sp>
        <p:nvSpPr>
          <p:cNvPr id="11" name="Text 6"/>
          <p:cNvSpPr/>
          <p:nvPr/>
        </p:nvSpPr>
        <p:spPr>
          <a:xfrm>
            <a:off x="4498848" y="4151376"/>
            <a:ext cx="3200400" cy="38404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Drivers accept</a:t>
            </a:r>
            <a:endParaRPr lang="en-US" sz="2300" dirty="0"/>
          </a:p>
        </p:txBody>
      </p:sp>
      <p:pic>
        <p:nvPicPr>
          <p:cNvPr id="12" name="Image 3" descr="/Users/kentonbell/Documents/GitHub/CareRide-Team-2/output/presentation/assets/shield-check.png">    </p:cNvPr>
          <p:cNvPicPr>
            <a:picLocks noChangeAspect="1"/>
          </p:cNvPicPr>
          <p:nvPr/>
        </p:nvPicPr>
        <p:blipFill>
          <a:blip r:embed="rId4"/>
          <a:stretch>
            <a:fillRect/>
          </a:stretch>
        </p:blipFill>
        <p:spPr>
          <a:xfrm>
            <a:off x="9262872" y="2907792"/>
            <a:ext cx="960120" cy="960120"/>
          </a:xfrm>
          <a:prstGeom prst="rect">
            <a:avLst/>
          </a:prstGeom>
        </p:spPr>
      </p:pic>
      <p:sp>
        <p:nvSpPr>
          <p:cNvPr id="13" name="Text 7"/>
          <p:cNvSpPr/>
          <p:nvPr/>
        </p:nvSpPr>
        <p:spPr>
          <a:xfrm>
            <a:off x="8266176" y="4151376"/>
            <a:ext cx="3200400" cy="38404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Staff track</a:t>
            </a:r>
            <a:endParaRPr lang="en-US" sz="2300" dirty="0"/>
          </a:p>
        </p:txBody>
      </p:sp>
      <p:sp>
        <p:nvSpPr>
          <p:cNvPr id="14" name="Shape 8"/>
          <p:cNvSpPr/>
          <p:nvPr/>
        </p:nvSpPr>
        <p:spPr>
          <a:xfrm>
            <a:off x="594360" y="4892040"/>
            <a:ext cx="11000232" cy="731520"/>
          </a:xfrm>
          <a:prstGeom prst="roundRect">
            <a:avLst>
              <a:gd name="adj" fmla="val 15000"/>
            </a:avLst>
          </a:prstGeom>
          <a:solidFill>
            <a:srgbClr val="E8F3ED"/>
          </a:solidFill>
          <a:ln w="12700">
            <a:solidFill>
              <a:srgbClr val="E8F3ED">
                <a:alpha val="0"/>
              </a:srgbClr>
            </a:solidFill>
            <a:prstDash val="solid"/>
          </a:ln>
        </p:spPr>
      </p:sp>
      <p:sp>
        <p:nvSpPr>
          <p:cNvPr id="15" name="Text 9"/>
          <p:cNvSpPr/>
          <p:nvPr/>
        </p:nvSpPr>
        <p:spPr>
          <a:xfrm>
            <a:off x="804672" y="5065776"/>
            <a:ext cx="10570464" cy="320040"/>
          </a:xfrm>
          <a:prstGeom prst="rect">
            <a:avLst/>
          </a:prstGeom>
          <a:noFill/>
          <a:ln/>
        </p:spPr>
        <p:txBody>
          <a:bodyPr wrap="square" lIns="0" tIns="0" rIns="0" bIns="0" rtlCol="0" anchor="ctr"/>
          <a:lstStyle/>
          <a:p>
            <a:pPr indent="0" marL="0">
              <a:buNone/>
            </a:pPr>
            <a:r>
              <a:rPr lang="en-US" sz="2000" b="1" dirty="0">
                <a:solidFill>
                  <a:srgbClr val="285D4D"/>
                </a:solidFill>
                <a:latin typeface="Arial" pitchFamily="34" charset="0"/>
                <a:ea typeface="Arial" pitchFamily="34" charset="-122"/>
                <a:cs typeface="Arial" pitchFamily="34" charset="-120"/>
              </a:rPr>
              <a:t>HACKATHON MVP  ·  Free rides  ·  No client smartphone required</a:t>
            </a:r>
            <a:endParaRPr lang="en-US" sz="2000" dirty="0"/>
          </a:p>
        </p:txBody>
      </p:sp>
      <p:sp>
        <p:nvSpPr>
          <p:cNvPr id="16" name="Text 10"/>
          <p:cNvSpPr/>
          <p:nvPr/>
        </p:nvSpPr>
        <p:spPr>
          <a:xfrm>
            <a:off x="594360" y="5952744"/>
            <a:ext cx="10515600" cy="365760"/>
          </a:xfrm>
          <a:prstGeom prst="rect">
            <a:avLst/>
          </a:prstGeom>
          <a:noFill/>
          <a:ln/>
        </p:spPr>
        <p:txBody>
          <a:bodyPr wrap="square" lIns="0" tIns="0" rIns="0" bIns="0" rtlCol="0" anchor="ctr"/>
          <a:lstStyle/>
          <a:p>
            <a:pPr indent="0" marL="0">
              <a:buNone/>
            </a:pPr>
            <a:r>
              <a:rPr lang="en-US" sz="1600" dirty="0">
                <a:solidFill>
                  <a:srgbClr val="66736E"/>
                </a:solidFill>
                <a:latin typeface="Arial" pitchFamily="34" charset="0"/>
                <a:ea typeface="Arial" pitchFamily="34" charset="-122"/>
                <a:cs typeface="Arial" pitchFamily="34" charset="-120"/>
              </a:rPr>
              <a:t>Assumptions to test: organization support and enough eligible drivers.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05 / 07</a:t>
            </a:r>
            <a:endParaRPr lang="en-US" sz="1000" dirty="0"/>
          </a:p>
        </p:txBody>
      </p:sp>
      <p:sp>
        <p:nvSpPr>
          <p:cNvPr id="6" name="Text 3"/>
          <p:cNvSpPr/>
          <p:nvPr/>
        </p:nvSpPr>
        <p:spPr>
          <a:xfrm>
            <a:off x="548640" y="960120"/>
            <a:ext cx="10972800" cy="256032"/>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RESULT &amp; LIVE DEMO  /  2 MINUTES</a:t>
            </a:r>
            <a:endParaRPr lang="en-US" sz="1100" dirty="0"/>
          </a:p>
        </p:txBody>
      </p:sp>
      <p:sp>
        <p:nvSpPr>
          <p:cNvPr id="7" name="Text 4"/>
          <p:cNvSpPr/>
          <p:nvPr/>
        </p:nvSpPr>
        <p:spPr>
          <a:xfrm>
            <a:off x="548640" y="1371600"/>
            <a:ext cx="10881360" cy="1097280"/>
          </a:xfrm>
          <a:prstGeom prst="rect">
            <a:avLst/>
          </a:prstGeom>
          <a:noFill/>
          <a:ln/>
        </p:spPr>
        <p:txBody>
          <a:bodyPr wrap="square" lIns="0" tIns="0" rIns="0" bIns="0" rtlCol="0" anchor="ctr"/>
          <a:lstStyle/>
          <a:p>
            <a:pPr indent="0" marL="0">
              <a:buNone/>
            </a:pPr>
            <a:r>
              <a:rPr lang="en-US" sz="3400" dirty="0">
                <a:solidFill>
                  <a:srgbClr val="20302B"/>
                </a:solidFill>
                <a:latin typeface="Georgia" pitchFamily="34" charset="0"/>
                <a:ea typeface="Georgia" pitchFamily="34" charset="-122"/>
                <a:cs typeface="Georgia" pitchFamily="34" charset="-120"/>
              </a:rPr>
              <a:t>One request. One driver.</a:t>
            </a:r>
            <a:endParaRPr lang="en-US" sz="3400" dirty="0"/>
          </a:p>
          <a:p>
            <a:pPr indent="0" marL="0">
              <a:buNone/>
            </a:pPr>
            <a:r>
              <a:rPr lang="en-US" sz="3400" dirty="0">
                <a:solidFill>
                  <a:srgbClr val="20302B"/>
                </a:solidFill>
                <a:latin typeface="Georgia" pitchFamily="34" charset="0"/>
                <a:ea typeface="Georgia" pitchFamily="34" charset="-122"/>
                <a:cs typeface="Georgia" pitchFamily="34" charset="-120"/>
              </a:rPr>
              <a:t>A journey to care.</a:t>
            </a:r>
            <a:endParaRPr lang="en-US" sz="3400" dirty="0"/>
          </a:p>
        </p:txBody>
      </p:sp>
      <p:sp>
        <p:nvSpPr>
          <p:cNvPr id="8" name="Text 5"/>
          <p:cNvSpPr/>
          <p:nvPr/>
        </p:nvSpPr>
        <p:spPr>
          <a:xfrm>
            <a:off x="594360" y="2615184"/>
            <a:ext cx="10972800" cy="310896"/>
          </a:xfrm>
          <a:prstGeom prst="rect">
            <a:avLst/>
          </a:prstGeom>
          <a:noFill/>
          <a:ln/>
        </p:spPr>
        <p:txBody>
          <a:bodyPr wrap="square" lIns="0" tIns="0" rIns="0" bIns="0" rtlCol="0" anchor="ctr"/>
          <a:lstStyle/>
          <a:p>
            <a:pPr indent="0" marL="0">
              <a:buNone/>
            </a:pPr>
            <a:r>
              <a:rPr lang="en-US" sz="1800" dirty="0">
                <a:solidFill>
                  <a:srgbClr val="285D4D"/>
                </a:solidFill>
                <a:latin typeface="Arial" pitchFamily="34" charset="0"/>
                <a:ea typeface="Arial" pitchFamily="34" charset="-122"/>
                <a:cs typeface="Arial" pitchFamily="34" charset="-120"/>
              </a:rPr>
              <a:t>Staff + driver screens  ·  Booking + acceptance  ·  Tracking + notifications</a:t>
            </a:r>
            <a:endParaRPr lang="en-US" sz="1800" dirty="0"/>
          </a:p>
        </p:txBody>
      </p:sp>
      <p:pic>
        <p:nvPicPr>
          <p:cNvPr id="9" name="Image 1" descr="/Users/kentonbell/Documents/GitHub/CareRide-Team-2/output/presentation/assets/booking.png">    </p:cNvPr>
          <p:cNvPicPr>
            <a:picLocks noChangeAspect="1"/>
          </p:cNvPicPr>
          <p:nvPr/>
        </p:nvPicPr>
        <p:blipFill>
          <a:blip r:embed="rId2"/>
          <a:stretch>
            <a:fillRect/>
          </a:stretch>
        </p:blipFill>
        <p:spPr>
          <a:xfrm>
            <a:off x="941832" y="3154680"/>
            <a:ext cx="3675888" cy="2551176"/>
          </a:xfrm>
          <a:prstGeom prst="rect">
            <a:avLst/>
          </a:prstGeom>
        </p:spPr>
      </p:pic>
      <p:pic>
        <p:nvPicPr>
          <p:cNvPr id="10" name="Image 2" descr="/Users/kentonbell/Documents/GitHub/CareRide-Team-2/output/presentation/assets/driver.png">    </p:cNvPr>
          <p:cNvPicPr>
            <a:picLocks noChangeAspect="1"/>
          </p:cNvPicPr>
          <p:nvPr/>
        </p:nvPicPr>
        <p:blipFill>
          <a:blip r:embed="rId3"/>
          <a:stretch>
            <a:fillRect/>
          </a:stretch>
        </p:blipFill>
        <p:spPr>
          <a:xfrm>
            <a:off x="6675120" y="3154680"/>
            <a:ext cx="3675888" cy="2551176"/>
          </a:xfrm>
          <a:prstGeom prst="rect">
            <a:avLst/>
          </a:prstGeom>
        </p:spPr>
      </p:pic>
      <p:sp>
        <p:nvSpPr>
          <p:cNvPr id="11" name="Text 6"/>
          <p:cNvSpPr/>
          <p:nvPr/>
        </p:nvSpPr>
        <p:spPr>
          <a:xfrm>
            <a:off x="950976" y="5769864"/>
            <a:ext cx="3657600" cy="219456"/>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STAFF REQUEST</a:t>
            </a:r>
            <a:endParaRPr lang="en-US" sz="1100" dirty="0"/>
          </a:p>
        </p:txBody>
      </p:sp>
      <p:sp>
        <p:nvSpPr>
          <p:cNvPr id="12" name="Text 7"/>
          <p:cNvSpPr/>
          <p:nvPr/>
        </p:nvSpPr>
        <p:spPr>
          <a:xfrm>
            <a:off x="6693408" y="5769864"/>
            <a:ext cx="3657600" cy="219456"/>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DRIVER RESPONSE</a:t>
            </a:r>
            <a:endParaRPr lang="en-US" sz="1100" dirty="0"/>
          </a:p>
        </p:txBody>
      </p:sp>
      <p:sp>
        <p:nvSpPr>
          <p:cNvPr id="13" name="Text 8"/>
          <p:cNvSpPr/>
          <p:nvPr/>
        </p:nvSpPr>
        <p:spPr>
          <a:xfrm>
            <a:off x="5166360" y="4087368"/>
            <a:ext cx="923544" cy="557784"/>
          </a:xfrm>
          <a:prstGeom prst="rect">
            <a:avLst/>
          </a:prstGeom>
          <a:noFill/>
          <a:ln/>
        </p:spPr>
        <p:txBody>
          <a:bodyPr wrap="square" lIns="0" tIns="0" rIns="0" bIns="0" rtlCol="0" anchor="ctr"/>
          <a:lstStyle/>
          <a:p>
            <a:pPr indent="0" marL="0">
              <a:buNone/>
            </a:pPr>
            <a:r>
              <a:rPr lang="en-US" sz="3800" dirty="0">
                <a:solidFill>
                  <a:srgbClr val="D99A52"/>
                </a:solidFill>
                <a:latin typeface="Arial" pitchFamily="34" charset="0"/>
                <a:ea typeface="Arial" pitchFamily="34" charset="-122"/>
                <a:cs typeface="Arial" pitchFamily="34" charset="-120"/>
              </a:rPr>
              <a:t>→</a:t>
            </a:r>
            <a:endParaRPr lang="en-US" sz="3800" dirty="0"/>
          </a:p>
        </p:txBody>
      </p:sp>
      <p:sp>
        <p:nvSpPr>
          <p:cNvPr id="14" name="Text 9"/>
          <p:cNvSpPr/>
          <p:nvPr/>
        </p:nvSpPr>
        <p:spPr>
          <a:xfrm>
            <a:off x="603504" y="6199632"/>
            <a:ext cx="9966960" cy="320040"/>
          </a:xfrm>
          <a:prstGeom prst="rect">
            <a:avLst/>
          </a:prstGeom>
          <a:noFill/>
          <a:ln/>
        </p:spPr>
        <p:txBody>
          <a:bodyPr wrap="square" lIns="0" tIns="0" rIns="0" bIns="0" rtlCol="0" anchor="ctr"/>
          <a:lstStyle/>
          <a:p>
            <a:pPr indent="0" marL="0">
              <a:buNone/>
            </a:pPr>
            <a:r>
              <a:rPr lang="en-US" sz="2100" b="1" dirty="0">
                <a:solidFill>
                  <a:srgbClr val="285D4D"/>
                </a:solidFill>
                <a:latin typeface="Arial" pitchFamily="34" charset="0"/>
                <a:ea typeface="Arial" pitchFamily="34" charset="-122"/>
                <a:cs typeface="Arial" pitchFamily="34" charset="-120"/>
              </a:rPr>
              <a:t>Request  →  Accepted  →  Picked up  →  Completed</a:t>
            </a:r>
            <a:endParaRPr lang="en-US" sz="2100" dirty="0"/>
          </a:p>
        </p:txBody>
      </p:sp>
      <p:sp>
        <p:nvSpPr>
          <p:cNvPr id="15" name="Text 10"/>
          <p:cNvSpPr/>
          <p:nvPr/>
        </p:nvSpPr>
        <p:spPr>
          <a:xfrm>
            <a:off x="603504" y="6611112"/>
            <a:ext cx="9144000" cy="146304"/>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Actual app screens · synthetic demo data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06 / 07</a:t>
            </a:r>
            <a:endParaRPr lang="en-US" sz="1000" dirty="0"/>
          </a:p>
        </p:txBody>
      </p:sp>
      <p:sp>
        <p:nvSpPr>
          <p:cNvPr id="6" name="Text 3"/>
          <p:cNvSpPr/>
          <p:nvPr/>
        </p:nvSpPr>
        <p:spPr>
          <a:xfrm>
            <a:off x="548640" y="960120"/>
            <a:ext cx="10972800" cy="22860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STORY</a:t>
            </a:r>
            <a:endParaRPr lang="en-US" sz="1100" dirty="0"/>
          </a:p>
        </p:txBody>
      </p:sp>
      <p:sp>
        <p:nvSpPr>
          <p:cNvPr id="7" name="Text 4"/>
          <p:cNvSpPr/>
          <p:nvPr/>
        </p:nvSpPr>
        <p:spPr>
          <a:xfrm>
            <a:off x="548640" y="1389888"/>
            <a:ext cx="10972800" cy="1261872"/>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One team.</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One complete journey.</a:t>
            </a:r>
            <a:endParaRPr lang="en-US" sz="3800" dirty="0"/>
          </a:p>
        </p:txBody>
      </p:sp>
      <p:sp>
        <p:nvSpPr>
          <p:cNvPr id="8" name="Shape 5"/>
          <p:cNvSpPr/>
          <p:nvPr/>
        </p:nvSpPr>
        <p:spPr>
          <a:xfrm>
            <a:off x="548640"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9" name="Text 6"/>
          <p:cNvSpPr/>
          <p:nvPr/>
        </p:nvSpPr>
        <p:spPr>
          <a:xfrm>
            <a:off x="777240"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77240"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Our focus</a:t>
            </a:r>
            <a:endParaRPr lang="en-US" sz="2300" dirty="0"/>
          </a:p>
        </p:txBody>
      </p:sp>
      <p:sp>
        <p:nvSpPr>
          <p:cNvPr id="11" name="Text 8"/>
          <p:cNvSpPr/>
          <p:nvPr/>
        </p:nvSpPr>
        <p:spPr>
          <a:xfrm>
            <a:off x="777240"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Complete the staff-to-driver journey.</a:t>
            </a:r>
            <a:endParaRPr lang="en-US" sz="1800" dirty="0"/>
          </a:p>
        </p:txBody>
      </p:sp>
      <p:sp>
        <p:nvSpPr>
          <p:cNvPr id="12" name="Shape 9"/>
          <p:cNvSpPr/>
          <p:nvPr/>
        </p:nvSpPr>
        <p:spPr>
          <a:xfrm>
            <a:off x="4325112"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3" name="Text 10"/>
          <p:cNvSpPr/>
          <p:nvPr/>
        </p:nvSpPr>
        <p:spPr>
          <a:xfrm>
            <a:off x="4553712"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02</a:t>
            </a:r>
            <a:endParaRPr lang="en-US" sz="1600" dirty="0"/>
          </a:p>
        </p:txBody>
      </p:sp>
      <p:sp>
        <p:nvSpPr>
          <p:cNvPr id="14" name="Text 11"/>
          <p:cNvSpPr/>
          <p:nvPr/>
        </p:nvSpPr>
        <p:spPr>
          <a:xfrm>
            <a:off x="4553712"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Our challenge</a:t>
            </a:r>
            <a:endParaRPr lang="en-US" sz="2300" dirty="0"/>
          </a:p>
        </p:txBody>
      </p:sp>
      <p:sp>
        <p:nvSpPr>
          <p:cNvPr id="15" name="Text 12"/>
          <p:cNvSpPr/>
          <p:nvPr/>
        </p:nvSpPr>
        <p:spPr>
          <a:xfrm>
            <a:off x="4553712"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Bring interface, API, and deployment together.</a:t>
            </a:r>
            <a:endParaRPr lang="en-US" sz="1800" dirty="0"/>
          </a:p>
        </p:txBody>
      </p:sp>
      <p:sp>
        <p:nvSpPr>
          <p:cNvPr id="16" name="Shape 13"/>
          <p:cNvSpPr/>
          <p:nvPr/>
        </p:nvSpPr>
        <p:spPr>
          <a:xfrm>
            <a:off x="8101584" y="3054096"/>
            <a:ext cx="3547872" cy="2176272"/>
          </a:xfrm>
          <a:prstGeom prst="roundRect">
            <a:avLst>
              <a:gd name="adj" fmla="val 5042"/>
            </a:avLst>
          </a:prstGeom>
          <a:solidFill>
            <a:srgbClr val="FFFFFF"/>
          </a:solidFill>
          <a:ln w="12700">
            <a:solidFill>
              <a:srgbClr val="FFFFFF">
                <a:alpha val="0"/>
              </a:srgbClr>
            </a:solidFill>
            <a:prstDash val="solid"/>
          </a:ln>
        </p:spPr>
      </p:sp>
      <p:sp>
        <p:nvSpPr>
          <p:cNvPr id="17" name="Text 14"/>
          <p:cNvSpPr/>
          <p:nvPr/>
        </p:nvSpPr>
        <p:spPr>
          <a:xfrm>
            <a:off x="8330184" y="3273552"/>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8330184" y="3758184"/>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Our lesson</a:t>
            </a:r>
            <a:endParaRPr lang="en-US" sz="2300" dirty="0"/>
          </a:p>
        </p:txBody>
      </p:sp>
      <p:sp>
        <p:nvSpPr>
          <p:cNvPr id="19" name="Text 16"/>
          <p:cNvSpPr/>
          <p:nvPr/>
        </p:nvSpPr>
        <p:spPr>
          <a:xfrm>
            <a:off x="8330184" y="4325112"/>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Test the handoffs, not just the screens.</a:t>
            </a:r>
            <a:endParaRPr lang="en-US" sz="1800" dirty="0"/>
          </a:p>
        </p:txBody>
      </p:sp>
      <p:sp>
        <p:nvSpPr>
          <p:cNvPr id="20" name="Text 17"/>
          <p:cNvSpPr/>
          <p:nvPr/>
        </p:nvSpPr>
        <p:spPr>
          <a:xfrm>
            <a:off x="594360" y="5724144"/>
            <a:ext cx="10789920" cy="356616"/>
          </a:xfrm>
          <a:prstGeom prst="rect">
            <a:avLst/>
          </a:prstGeom>
          <a:noFill/>
          <a:ln/>
        </p:spPr>
        <p:txBody>
          <a:bodyPr wrap="square" lIns="0" tIns="0" rIns="0" bIns="0" rtlCol="0" anchor="ctr"/>
          <a:lstStyle/>
          <a:p>
            <a:pPr indent="0" marL="0">
              <a:buNone/>
            </a:pPr>
            <a:r>
              <a:rPr lang="en-US" sz="2100" b="1" dirty="0">
                <a:solidFill>
                  <a:srgbClr val="285D4D"/>
                </a:solidFill>
                <a:latin typeface="Arial" pitchFamily="34" charset="0"/>
                <a:ea typeface="Arial" pitchFamily="34" charset="-122"/>
                <a:cs typeface="Arial" pitchFamily="34" charset="-120"/>
              </a:rPr>
              <a:t>Derek  ·  Kenton  ·  Eashan  ·  Chong</a:t>
            </a:r>
            <a:endParaRPr lang="en-US" sz="2100" dirty="0"/>
          </a:p>
        </p:txBody>
      </p:sp>
      <p:sp>
        <p:nvSpPr>
          <p:cNvPr id="21" name="Text 18"/>
          <p:cNvSpPr/>
          <p:nvPr/>
        </p:nvSpPr>
        <p:spPr>
          <a:xfrm>
            <a:off x="594360" y="6437376"/>
            <a:ext cx="9875520" cy="155448"/>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Story grounded in repository progress and integration notes; add personal contributions in notes.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5D4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19088"/>
            <a:ext cx="777240" cy="18288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07 / 07</a:t>
            </a:r>
            <a:endParaRPr lang="en-US" sz="1000" dirty="0"/>
          </a:p>
        </p:txBody>
      </p:sp>
      <p:sp>
        <p:nvSpPr>
          <p:cNvPr id="6" name="Text 3"/>
          <p:cNvSpPr/>
          <p:nvPr/>
        </p:nvSpPr>
        <p:spPr>
          <a:xfrm>
            <a:off x="594360" y="1024128"/>
            <a:ext cx="10972800" cy="274320"/>
          </a:xfrm>
          <a:prstGeom prst="rect">
            <a:avLst/>
          </a:prstGeom>
          <a:noFill/>
          <a:ln/>
        </p:spPr>
        <p:txBody>
          <a:bodyPr wrap="square" lIns="0" tIns="0" rIns="0" bIns="0" rtlCol="0" anchor="ctr"/>
          <a:lstStyle/>
          <a:p>
            <a:pPr indent="0" marL="0">
              <a:buNone/>
            </a:pPr>
            <a:r>
              <a:rPr lang="en-US" sz="1100" b="1" dirty="0">
                <a:solidFill>
                  <a:srgbClr val="E8F3ED"/>
                </a:solidFill>
                <a:latin typeface="Arial" pitchFamily="34" charset="0"/>
                <a:ea typeface="Arial" pitchFamily="34" charset="-122"/>
                <a:cs typeface="Arial" pitchFamily="34" charset="-120"/>
              </a:rPr>
              <a:t>THANK YOU &amp; NEXT STEPS</a:t>
            </a:r>
            <a:endParaRPr lang="en-US" sz="1100" dirty="0"/>
          </a:p>
        </p:txBody>
      </p:sp>
      <p:sp>
        <p:nvSpPr>
          <p:cNvPr id="7" name="Text 4"/>
          <p:cNvSpPr/>
          <p:nvPr/>
        </p:nvSpPr>
        <p:spPr>
          <a:xfrm>
            <a:off x="594360" y="1517904"/>
            <a:ext cx="10972800" cy="1307592"/>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Thank you.</a:t>
            </a:r>
            <a:endParaRPr lang="en-US" sz="4000" dirty="0"/>
          </a:p>
          <a:p>
            <a:pPr indent="0" marL="0">
              <a:buNone/>
            </a:pPr>
            <a:r>
              <a:rPr lang="en-US" sz="4000" dirty="0">
                <a:solidFill>
                  <a:srgbClr val="FFFFFF"/>
                </a:solidFill>
                <a:latin typeface="Georgia" pitchFamily="34" charset="0"/>
                <a:ea typeface="Georgia" pitchFamily="34" charset="-122"/>
                <a:cs typeface="Georgia" pitchFamily="34" charset="-120"/>
              </a:rPr>
              <a:t>Help us make a way forward.</a:t>
            </a:r>
            <a:endParaRPr lang="en-US" sz="4000" dirty="0"/>
          </a:p>
        </p:txBody>
      </p:sp>
      <p:sp>
        <p:nvSpPr>
          <p:cNvPr id="8" name="Shape 5"/>
          <p:cNvSpPr/>
          <p:nvPr/>
        </p:nvSpPr>
        <p:spPr>
          <a:xfrm>
            <a:off x="548640" y="3081528"/>
            <a:ext cx="3547872" cy="2176272"/>
          </a:xfrm>
          <a:prstGeom prst="roundRect">
            <a:avLst>
              <a:gd name="adj" fmla="val 5042"/>
            </a:avLst>
          </a:prstGeom>
          <a:solidFill>
            <a:srgbClr val="FFFFFF"/>
          </a:solidFill>
          <a:ln w="12700">
            <a:solidFill>
              <a:srgbClr val="FFFFFF">
                <a:alpha val="0"/>
              </a:srgbClr>
            </a:solidFill>
            <a:prstDash val="solid"/>
          </a:ln>
        </p:spPr>
      </p:sp>
      <p:sp>
        <p:nvSpPr>
          <p:cNvPr id="9" name="Text 6"/>
          <p:cNvSpPr/>
          <p:nvPr/>
        </p:nvSpPr>
        <p:spPr>
          <a:xfrm>
            <a:off x="777240" y="3300984"/>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77240" y="3785616"/>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Validate with staff</a:t>
            </a:r>
            <a:endParaRPr lang="en-US" sz="2300" dirty="0"/>
          </a:p>
        </p:txBody>
      </p:sp>
      <p:sp>
        <p:nvSpPr>
          <p:cNvPr id="11" name="Text 8"/>
          <p:cNvSpPr/>
          <p:nvPr/>
        </p:nvSpPr>
        <p:spPr>
          <a:xfrm>
            <a:off x="777240" y="4352544"/>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Test with a willing organization and real operating needs.</a:t>
            </a:r>
            <a:endParaRPr lang="en-US" sz="1800" dirty="0"/>
          </a:p>
        </p:txBody>
      </p:sp>
      <p:sp>
        <p:nvSpPr>
          <p:cNvPr id="12" name="Shape 9"/>
          <p:cNvSpPr/>
          <p:nvPr/>
        </p:nvSpPr>
        <p:spPr>
          <a:xfrm>
            <a:off x="4325112" y="3081528"/>
            <a:ext cx="3547872" cy="2176272"/>
          </a:xfrm>
          <a:prstGeom prst="roundRect">
            <a:avLst>
              <a:gd name="adj" fmla="val 5042"/>
            </a:avLst>
          </a:prstGeom>
          <a:solidFill>
            <a:srgbClr val="FFFFFF"/>
          </a:solidFill>
          <a:ln w="12700">
            <a:solidFill>
              <a:srgbClr val="FFFFFF">
                <a:alpha val="0"/>
              </a:srgbClr>
            </a:solidFill>
            <a:prstDash val="solid"/>
          </a:ln>
        </p:spPr>
      </p:sp>
      <p:sp>
        <p:nvSpPr>
          <p:cNvPr id="13" name="Text 10"/>
          <p:cNvSpPr/>
          <p:nvPr/>
        </p:nvSpPr>
        <p:spPr>
          <a:xfrm>
            <a:off x="4553712" y="3300984"/>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02</a:t>
            </a:r>
            <a:endParaRPr lang="en-US" sz="1600" dirty="0"/>
          </a:p>
        </p:txBody>
      </p:sp>
      <p:sp>
        <p:nvSpPr>
          <p:cNvPr id="14" name="Text 11"/>
          <p:cNvSpPr/>
          <p:nvPr/>
        </p:nvSpPr>
        <p:spPr>
          <a:xfrm>
            <a:off x="4553712" y="3785616"/>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Agree the process</a:t>
            </a:r>
            <a:endParaRPr lang="en-US" sz="2300" dirty="0"/>
          </a:p>
        </p:txBody>
      </p:sp>
      <p:sp>
        <p:nvSpPr>
          <p:cNvPr id="15" name="Text 12"/>
          <p:cNvSpPr/>
          <p:nvPr/>
        </p:nvSpPr>
        <p:spPr>
          <a:xfrm>
            <a:off x="4553712" y="4352544"/>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Confirm approval, coordination, and pilot ownership.</a:t>
            </a:r>
            <a:endParaRPr lang="en-US" sz="1800" dirty="0"/>
          </a:p>
        </p:txBody>
      </p:sp>
      <p:sp>
        <p:nvSpPr>
          <p:cNvPr id="16" name="Shape 13"/>
          <p:cNvSpPr/>
          <p:nvPr/>
        </p:nvSpPr>
        <p:spPr>
          <a:xfrm>
            <a:off x="8101584" y="3081528"/>
            <a:ext cx="3547872" cy="2176272"/>
          </a:xfrm>
          <a:prstGeom prst="roundRect">
            <a:avLst>
              <a:gd name="adj" fmla="val 5042"/>
            </a:avLst>
          </a:prstGeom>
          <a:solidFill>
            <a:srgbClr val="FFFFFF"/>
          </a:solidFill>
          <a:ln w="12700">
            <a:solidFill>
              <a:srgbClr val="FFFFFF">
                <a:alpha val="0"/>
              </a:srgbClr>
            </a:solidFill>
            <a:prstDash val="solid"/>
          </a:ln>
        </p:spPr>
      </p:sp>
      <p:sp>
        <p:nvSpPr>
          <p:cNvPr id="17" name="Text 14"/>
          <p:cNvSpPr/>
          <p:nvPr/>
        </p:nvSpPr>
        <p:spPr>
          <a:xfrm>
            <a:off x="8330184" y="3300984"/>
            <a:ext cx="731520" cy="256032"/>
          </a:xfrm>
          <a:prstGeom prst="rect">
            <a:avLst/>
          </a:prstGeom>
          <a:noFill/>
          <a:ln/>
        </p:spPr>
        <p:txBody>
          <a:bodyPr wrap="square" lIns="0" tIns="0" rIns="0" bIns="0" rtlCol="0" anchor="ctr"/>
          <a:lstStyle/>
          <a:p>
            <a:pPr indent="0" marL="0">
              <a:buNone/>
            </a:pPr>
            <a:r>
              <a:rPr lang="en-US" sz="1600" b="1" dirty="0">
                <a:solidFill>
                  <a:srgbClr val="D99A52"/>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8330184" y="3785616"/>
            <a:ext cx="3063240" cy="457200"/>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Keep building</a:t>
            </a:r>
            <a:endParaRPr lang="en-US" sz="2300" dirty="0"/>
          </a:p>
        </p:txBody>
      </p:sp>
      <p:sp>
        <p:nvSpPr>
          <p:cNvPr id="19" name="Text 16"/>
          <p:cNvSpPr/>
          <p:nvPr/>
        </p:nvSpPr>
        <p:spPr>
          <a:xfrm>
            <a:off x="8330184" y="4352544"/>
            <a:ext cx="3063240" cy="667512"/>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Strengthen integration and ongoing maintenance.</a:t>
            </a:r>
            <a:endParaRPr lang="en-US" sz="1800" dirty="0"/>
          </a:p>
        </p:txBody>
      </p:sp>
      <p:sp>
        <p:nvSpPr>
          <p:cNvPr id="20" name="Text 17"/>
          <p:cNvSpPr/>
          <p:nvPr/>
        </p:nvSpPr>
        <p:spPr>
          <a:xfrm>
            <a:off x="594360" y="5449824"/>
            <a:ext cx="10789920"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Help us test it, offer a ride, or keep building.</a:t>
            </a:r>
            <a:endParaRPr lang="en-US" sz="2100" dirty="0"/>
          </a:p>
        </p:txBody>
      </p:sp>
      <p:sp>
        <p:nvSpPr>
          <p:cNvPr id="21" name="Text 18"/>
          <p:cNvSpPr/>
          <p:nvPr/>
        </p:nvSpPr>
        <p:spPr>
          <a:xfrm>
            <a:off x="594360" y="5934456"/>
            <a:ext cx="10789920" cy="33832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A little help, A way forward. Connecting people to the care they need.</a:t>
            </a:r>
            <a:endParaRPr lang="en-US" sz="1800" dirty="0"/>
          </a:p>
        </p:txBody>
      </p:sp>
      <p:sp>
        <p:nvSpPr>
          <p:cNvPr id="22" name="Text 19">
            <a:hlinkClick r:id="rId2" tooltip=""/>
          </p:cNvPr>
          <p:cNvSpPr/>
          <p:nvPr/>
        </p:nvSpPr>
        <p:spPr>
          <a:xfrm>
            <a:off x="594360" y="6400800"/>
            <a:ext cx="10515600" cy="256032"/>
          </a:xfrm>
          <a:prstGeom prst="rect">
            <a:avLst/>
          </a:prstGeom>
          <a:noFill/>
          <a:ln/>
        </p:spPr>
        <p:txBody>
          <a:bodyPr wrap="square" lIns="0" tIns="0" rIns="0" bIns="0" rtlCol="0" anchor="ctr"/>
          <a:lstStyle/>
          <a:p>
            <a:pPr indent="0" marL="0">
              <a:buNone/>
            </a:pPr>
            <a:r>
              <a:rPr lang="en-US" sz="1200" u="sng" dirty="0">
                <a:solidFill>
                  <a:srgbClr val="E8F3E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Explore the project → github.com/FaithTechGlobalLabs/CareRide-Team-2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CareRide — HACKVAN2026 Project Update</dc:title>
  <dc:subject>Seven-slide hackathon project update</dc:subject>
  <dc:creator>CareRide Team 2</dc:creator>
  <cp:lastModifiedBy>CareRide Team 2</cp:lastModifiedBy>
  <cp:revision>1</cp:revision>
  <dcterms:created xsi:type="dcterms:W3CDTF">2026-10-04T21:18:36Z</dcterms:created>
  <dcterms:modified xsi:type="dcterms:W3CDTF">2026-10-04T21:18:36Z</dcterms:modified>
</cp:coreProperties>
</file>