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Imagine having an appointment that could change your week, but no reliable way to get there. For someone experiencing homelessness, the distance to care can be much greater than the distance on a map. We are Team 2, and this is CareRide: a little help, a way forward. We connect the people arranging care with the people willing to offer a ride, so more neighbours can reach the services they need.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The Belkin Communities of Hope brief describes a practical and deeply human problem. Clients need to travel to hospitals, shelters, and other essential services. Some do not have smartphones or the digital literacy to arrange a conventional ride independently. Staff step in, but requests, calls, and updates can become fragmented across organizations. That leaves two people carrying the uncertainty: the client wondering whether they will get there, and the staff member trying to arrange it. CareRide focuses on this specific access barrier for people experiencing homelessness and other vulnerable neighbours. A seat in a car can become a door to care.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Our proposal is a staff-facing community transportation platform. Staff book a free ride for a client, an eligible driver accepts it, and the staff member can follow its progress. The client does not need a smartphone or a CareRide account in this first version. We begin with the people already providing support, rather than asking someone in a difficult situation to learn another digital system. CareRide brings requests and status updates into one place, across participating organizations. This is an independent platform shaped by the Belkin brief, with future service partnerships still to be confirmed. A little coordination can make a meaningful difference.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The journey has three human roles. A staff member knows the client and arranges the pickup and destination. A driver offers time and a seat. The organization approves that driver for its own rides. From there, the request moves through clear stages: awaiting a driver, driver assigned, on the way, and completed. Staff can see what needs attention instead of chasing every update. Saved pickup points and essential destinations make repeat journeys easier to arrange. If a return ride is needed, each leg is handled as a separate booking, so the staff member can see whether both directions have coverage.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Here is the staff experience in the prototype. These screenshots use synthetic demo records. The dashboard puts upcoming journeys and ride status in view. The booking screen lets staff select a client, choose saved pickup and destination points, and specify when the ride is needed. That matters because staff are arranging a real commitment, often around an appointment. For a live demonstration, I would open Book a ride, choose a sample client and a saved destination, and submit the request. It then becomes a journey that an eligible driver can review. The design is deliberately calm: clear labels, familiar actions, and a layout that works on mobile. We want staff spending their attention on people, with the app helping them coordinate.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On the other side is the volunteer driver. The driver view brings available rides and their own commitments together. The driver can review an eligible request, accept it, and update the journey at pickup and drop-off. Staff then have a shared record of what is happening. For a live demonstration, I would switch to a sample driver, open an available request, and show the acceptance and journey actions. Organization approval is part of the model: signing up alone does not make someone eligible for every organization’s rides. Driver availability and capacity help make the offer of a ride practical. The promise we want to test is simple: make it easier for a willing helping hand to become a useful journey.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For this audience, how we build matters as much as what we build. CareRide keeps the supporting organization involved. Each organization approves drivers for its rides, and staff remain the client’s point of contact in the first version. Trips are planned around essential services, with clear status and destination information. Emergency needs still go through emergency services. Before a live pilot, we need the partner to agree driver screening, insurance, consent, privacy, and escalation procedures. These are operational decisions to settle with the people responsible for care. The prototype gives us a foundation for that conversation; a responsible pilot will tell us what needs to change.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Our next step is a proposed four-week pilot with one willing organization, subject to its agreement. First, choose a named operational owner, a small set of destinations, and approved drivers. Agree the procedures and a fallback when no ride is available. Then run a limited set of planned trips. We should measure completed rides as a share of requests, time from request to acceptance, and staff time spent coordinating each ride. We also need direct feedback: did the client feel respected, and did staff find the process useful? The app’s sample savings are illustrative, not measured results. We want a baseline and real evidence before making claims about cost savings or improved access.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FaithTech’s event names three values: Excellence, Impact, and Hope. CareRide gives us a practical way to pursue all three. Excellence means making a thoughtful tool that staff can understand and use. Impact means testing whether it actually helps neighbours reach care and reduces the work needed to coordinate that journey. Hope means acknowledging the barriers while taking a useful next step together. For a gathering building in the name of Jesus, we see this as a concrete expression of loving our neighbour: offering time, attention, and practical help. We want churches, service organizations, and volunteers to be able to bring their community into that work.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Today, we are asking for three kinds of help: a willing organization to shape a pilot, volunteers to offer rides under agreed procedures, and FaithTech mentors and maintainers to help carry this beyond the weekend. The next step is a pilot planning conversation with the people who will run and use it. We believe a small act of coordination can open a meaningful path to care. CareRide: a little help, a way forward. Connecting people to the care they need.
Sources: CareRide Team 2 HACKVAN2026.pdf, pp. 19–21; docs/CARERIDE_REQUIREMENTS.md; current app source. Host: https://luma.com/faithtech-hack2026. Partnership and pilot are proposals. Screenshots contain synthetic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5D4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E8F3ED"/>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E8F3ED"/>
                </a:solidFill>
                <a:latin typeface="Arial" pitchFamily="34" charset="0"/>
                <a:ea typeface="Arial" pitchFamily="34" charset="-122"/>
                <a:cs typeface="Arial" pitchFamily="34" charset="-120"/>
              </a:rPr>
              <a:t>01  /  10</a:t>
            </a:r>
            <a:endParaRPr lang="en-US" sz="1000" dirty="0"/>
          </a:p>
        </p:txBody>
      </p:sp>
      <p:sp>
        <p:nvSpPr>
          <p:cNvPr id="6" name="Text 3"/>
          <p:cNvSpPr/>
          <p:nvPr/>
        </p:nvSpPr>
        <p:spPr>
          <a:xfrm>
            <a:off x="594360" y="1051560"/>
            <a:ext cx="6400800" cy="365760"/>
          </a:xfrm>
          <a:prstGeom prst="rect">
            <a:avLst/>
          </a:prstGeom>
          <a:noFill/>
          <a:ln/>
        </p:spPr>
        <p:txBody>
          <a:bodyPr wrap="square" lIns="0" tIns="0" rIns="0" bIns="0" rtlCol="0" anchor="ctr"/>
          <a:lstStyle/>
          <a:p>
            <a:pPr indent="0" marL="0">
              <a:buNone/>
            </a:pPr>
            <a:r>
              <a:rPr lang="en-US" sz="1200" b="1" dirty="0">
                <a:solidFill>
                  <a:srgbClr val="E8F3ED"/>
                </a:solidFill>
                <a:latin typeface="Arial" pitchFamily="34" charset="0"/>
                <a:ea typeface="Arial" pitchFamily="34" charset="-122"/>
                <a:cs typeface="Arial" pitchFamily="34" charset="-120"/>
              </a:rPr>
              <a:t>CARERIDE  /  TEAM 2  /  HACKVAN2026</a:t>
            </a:r>
            <a:endParaRPr lang="en-US" sz="1200" dirty="0"/>
          </a:p>
        </p:txBody>
      </p:sp>
      <p:sp>
        <p:nvSpPr>
          <p:cNvPr id="7" name="Text 4"/>
          <p:cNvSpPr/>
          <p:nvPr/>
        </p:nvSpPr>
        <p:spPr>
          <a:xfrm>
            <a:off x="594360" y="1828800"/>
            <a:ext cx="6766560" cy="2057400"/>
          </a:xfrm>
          <a:prstGeom prst="rect">
            <a:avLst/>
          </a:prstGeom>
          <a:noFill/>
          <a:ln/>
        </p:spPr>
        <p:txBody>
          <a:bodyPr wrap="square" lIns="0" tIns="0" rIns="0" bIns="0" rtlCol="0" anchor="ctr"/>
          <a:lstStyle/>
          <a:p>
            <a:pPr indent="0" marL="0">
              <a:buNone/>
            </a:pPr>
            <a:r>
              <a:rPr lang="en-US" sz="5400" dirty="0">
                <a:solidFill>
                  <a:srgbClr val="FFFFFF"/>
                </a:solidFill>
                <a:latin typeface="Georgia" pitchFamily="34" charset="0"/>
                <a:ea typeface="Georgia" pitchFamily="34" charset="-122"/>
                <a:cs typeface="Georgia" pitchFamily="34" charset="-120"/>
              </a:rPr>
              <a:t>A little help,</a:t>
            </a:r>
            <a:endParaRPr lang="en-US" sz="5400" dirty="0"/>
          </a:p>
          <a:p>
            <a:pPr indent="0" marL="0">
              <a:buNone/>
            </a:pPr>
            <a:r>
              <a:rPr lang="en-US" sz="5400" dirty="0">
                <a:solidFill>
                  <a:srgbClr val="FFFFFF"/>
                </a:solidFill>
                <a:latin typeface="Georgia" pitchFamily="34" charset="0"/>
                <a:ea typeface="Georgia" pitchFamily="34" charset="-122"/>
                <a:cs typeface="Georgia" pitchFamily="34" charset="-120"/>
              </a:rPr>
              <a:t>A way forward.</a:t>
            </a:r>
            <a:endParaRPr lang="en-US" sz="5400" dirty="0"/>
          </a:p>
        </p:txBody>
      </p:sp>
      <p:sp>
        <p:nvSpPr>
          <p:cNvPr id="8" name="Text 5"/>
          <p:cNvSpPr/>
          <p:nvPr/>
        </p:nvSpPr>
        <p:spPr>
          <a:xfrm>
            <a:off x="640080" y="4261104"/>
            <a:ext cx="6492240" cy="621792"/>
          </a:xfrm>
          <a:prstGeom prst="rect">
            <a:avLst/>
          </a:prstGeom>
          <a:noFill/>
          <a:ln/>
        </p:spPr>
        <p:txBody>
          <a:bodyPr wrap="square" lIns="0" tIns="0" rIns="0" bIns="0" rtlCol="0" anchor="ctr"/>
          <a:lstStyle/>
          <a:p>
            <a:pPr indent="0" marL="0">
              <a:buNone/>
            </a:pPr>
            <a:r>
              <a:rPr lang="en-US" sz="2400" dirty="0">
                <a:solidFill>
                  <a:srgbClr val="E8F3ED"/>
                </a:solidFill>
                <a:latin typeface="Arial" pitchFamily="34" charset="0"/>
                <a:ea typeface="Arial" pitchFamily="34" charset="-122"/>
                <a:cs typeface="Arial" pitchFamily="34" charset="-120"/>
              </a:rPr>
              <a:t>Connecting people to the care they need.</a:t>
            </a:r>
            <a:endParaRPr lang="en-US" sz="2400" dirty="0"/>
          </a:p>
        </p:txBody>
      </p:sp>
      <p:sp>
        <p:nvSpPr>
          <p:cNvPr id="9" name="Text 6"/>
          <p:cNvSpPr/>
          <p:nvPr/>
        </p:nvSpPr>
        <p:spPr>
          <a:xfrm>
            <a:off x="640080" y="5248656"/>
            <a:ext cx="6400800" cy="777240"/>
          </a:xfrm>
          <a:prstGeom prst="rect">
            <a:avLst/>
          </a:prstGeom>
          <a:noFill/>
          <a:ln/>
        </p:spPr>
        <p:txBody>
          <a:bodyPr wrap="square" lIns="0" tIns="0" rIns="0" bIns="0" rtlCol="0" anchor="ctr"/>
          <a:lstStyle/>
          <a:p>
            <a:pPr indent="0" marL="0">
              <a:buNone/>
            </a:pPr>
            <a:r>
              <a:rPr lang="en-US" sz="1900" dirty="0">
                <a:solidFill>
                  <a:srgbClr val="FFFFFF"/>
                </a:solidFill>
                <a:latin typeface="Arial" pitchFamily="34" charset="0"/>
                <a:ea typeface="Arial" pitchFamily="34" charset="-122"/>
                <a:cs typeface="Arial" pitchFamily="34" charset="-120"/>
              </a:rPr>
              <a:t>A community transportation proposal</a:t>
            </a:r>
            <a:endParaRPr lang="en-US" sz="1900" dirty="0"/>
          </a:p>
          <a:p>
            <a:pPr indent="0" marL="0">
              <a:buNone/>
            </a:pPr>
            <a:r>
              <a:rPr lang="en-US" sz="1900" dirty="0">
                <a:solidFill>
                  <a:srgbClr val="FFFFFF"/>
                </a:solidFill>
                <a:latin typeface="Arial" pitchFamily="34" charset="0"/>
                <a:ea typeface="Arial" pitchFamily="34" charset="-122"/>
                <a:cs typeface="Arial" pitchFamily="34" charset="-120"/>
              </a:rPr>
              <a:t>for people experiencing homelessness</a:t>
            </a:r>
            <a:endParaRPr lang="en-US" sz="1900" dirty="0"/>
          </a:p>
          <a:p>
            <a:pPr indent="0" marL="0">
              <a:buNone/>
            </a:pPr>
            <a:r>
              <a:rPr lang="en-US" sz="1900" dirty="0">
                <a:solidFill>
                  <a:srgbClr val="FFFFFF"/>
                </a:solidFill>
                <a:latin typeface="Arial" pitchFamily="34" charset="0"/>
                <a:ea typeface="Arial" pitchFamily="34" charset="-122"/>
                <a:cs typeface="Arial" pitchFamily="34" charset="-120"/>
              </a:rPr>
              <a:t>and other vulnerable neighbours.</a:t>
            </a:r>
            <a:endParaRPr lang="en-US" sz="1900" dirty="0"/>
          </a:p>
        </p:txBody>
      </p:sp>
      <p:pic>
        <p:nvPicPr>
          <p:cNvPr id="10" name="Image 1" descr="/Users/kentonbell/Documents/GitHub/CareRide-Team-2/output/presentation/assets/brand-story.png">    </p:cNvPr>
          <p:cNvPicPr>
            <a:picLocks noChangeAspect="1"/>
          </p:cNvPicPr>
          <p:nvPr/>
        </p:nvPicPr>
        <p:blipFill>
          <a:blip r:embed="rId2"/>
          <a:stretch>
            <a:fillRect/>
          </a:stretch>
        </p:blipFill>
        <p:spPr>
          <a:xfrm>
            <a:off x="8284464" y="1033272"/>
            <a:ext cx="3218688" cy="51937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02  /  10</a:t>
            </a:r>
            <a:endParaRPr lang="en-US" sz="1000" dirty="0"/>
          </a:p>
        </p:txBody>
      </p:sp>
      <p:sp>
        <p:nvSpPr>
          <p:cNvPr id="6" name="Text 3"/>
          <p:cNvSpPr/>
          <p:nvPr/>
        </p:nvSpPr>
        <p:spPr>
          <a:xfrm>
            <a:off x="548640" y="950976"/>
            <a:ext cx="10972800" cy="27432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THE HUMAN NEED</a:t>
            </a:r>
            <a:endParaRPr lang="en-US" sz="1100" dirty="0"/>
          </a:p>
        </p:txBody>
      </p:sp>
      <p:sp>
        <p:nvSpPr>
          <p:cNvPr id="7" name="Text 4"/>
          <p:cNvSpPr/>
          <p:nvPr/>
        </p:nvSpPr>
        <p:spPr>
          <a:xfrm>
            <a:off x="548640" y="1426464"/>
            <a:ext cx="10972800" cy="1243584"/>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Care exists.</a:t>
            </a:r>
            <a:endParaRPr lang="en-US" sz="3800" dirty="0"/>
          </a:p>
          <a:p>
            <a:pPr indent="0" marL="0">
              <a:buNone/>
            </a:pPr>
            <a:r>
              <a:rPr lang="en-US" sz="3800" dirty="0">
                <a:solidFill>
                  <a:srgbClr val="20302B"/>
                </a:solidFill>
                <a:latin typeface="Georgia" pitchFamily="34" charset="0"/>
                <a:ea typeface="Georgia" pitchFamily="34" charset="-122"/>
                <a:cs typeface="Georgia" pitchFamily="34" charset="-120"/>
              </a:rPr>
              <a:t>Getting there is the gap.</a:t>
            </a:r>
            <a:endParaRPr lang="en-US" sz="3800" dirty="0"/>
          </a:p>
        </p:txBody>
      </p:sp>
      <p:sp>
        <p:nvSpPr>
          <p:cNvPr id="8" name="Shape 5"/>
          <p:cNvSpPr/>
          <p:nvPr/>
        </p:nvSpPr>
        <p:spPr>
          <a:xfrm>
            <a:off x="548640"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9" name="Text 6"/>
          <p:cNvSpPr/>
          <p:nvPr/>
        </p:nvSpPr>
        <p:spPr>
          <a:xfrm>
            <a:off x="777240"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01</a:t>
            </a:r>
            <a:endParaRPr lang="en-US" sz="1800" dirty="0"/>
          </a:p>
        </p:txBody>
      </p:sp>
      <p:sp>
        <p:nvSpPr>
          <p:cNvPr id="10" name="Text 7"/>
          <p:cNvSpPr/>
          <p:nvPr/>
        </p:nvSpPr>
        <p:spPr>
          <a:xfrm>
            <a:off x="777240"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A place to go</a:t>
            </a:r>
            <a:endParaRPr lang="en-US" sz="2300" dirty="0"/>
          </a:p>
        </p:txBody>
      </p:sp>
      <p:sp>
        <p:nvSpPr>
          <p:cNvPr id="11" name="Text 8"/>
          <p:cNvSpPr/>
          <p:nvPr/>
        </p:nvSpPr>
        <p:spPr>
          <a:xfrm>
            <a:off x="777240"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Hospitals, shelters, and essential services.</a:t>
            </a:r>
            <a:endParaRPr lang="en-US" sz="1800" dirty="0"/>
          </a:p>
        </p:txBody>
      </p:sp>
      <p:sp>
        <p:nvSpPr>
          <p:cNvPr id="12" name="Shape 9"/>
          <p:cNvSpPr/>
          <p:nvPr/>
        </p:nvSpPr>
        <p:spPr>
          <a:xfrm>
            <a:off x="4325112"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3" name="Text 10"/>
          <p:cNvSpPr/>
          <p:nvPr/>
        </p:nvSpPr>
        <p:spPr>
          <a:xfrm>
            <a:off x="4553712"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02</a:t>
            </a:r>
            <a:endParaRPr lang="en-US" sz="1800" dirty="0"/>
          </a:p>
        </p:txBody>
      </p:sp>
      <p:sp>
        <p:nvSpPr>
          <p:cNvPr id="14" name="Text 11"/>
          <p:cNvSpPr/>
          <p:nvPr/>
        </p:nvSpPr>
        <p:spPr>
          <a:xfrm>
            <a:off x="4553712"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A barrier to cross</a:t>
            </a:r>
            <a:endParaRPr lang="en-US" sz="2300" dirty="0"/>
          </a:p>
        </p:txBody>
      </p:sp>
      <p:sp>
        <p:nvSpPr>
          <p:cNvPr id="15" name="Text 12"/>
          <p:cNvSpPr/>
          <p:nvPr/>
        </p:nvSpPr>
        <p:spPr>
          <a:xfrm>
            <a:off x="4553712"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No smartphone, limited digital access, or no reliable ride.</a:t>
            </a:r>
            <a:endParaRPr lang="en-US" sz="1800" dirty="0"/>
          </a:p>
        </p:txBody>
      </p:sp>
      <p:sp>
        <p:nvSpPr>
          <p:cNvPr id="16" name="Shape 13"/>
          <p:cNvSpPr/>
          <p:nvPr/>
        </p:nvSpPr>
        <p:spPr>
          <a:xfrm>
            <a:off x="8101584"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7" name="Text 14"/>
          <p:cNvSpPr/>
          <p:nvPr/>
        </p:nvSpPr>
        <p:spPr>
          <a:xfrm>
            <a:off x="8330184"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03</a:t>
            </a:r>
            <a:endParaRPr lang="en-US" sz="1800" dirty="0"/>
          </a:p>
        </p:txBody>
      </p:sp>
      <p:sp>
        <p:nvSpPr>
          <p:cNvPr id="18" name="Text 15"/>
          <p:cNvSpPr/>
          <p:nvPr/>
        </p:nvSpPr>
        <p:spPr>
          <a:xfrm>
            <a:off x="8330184"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A person to help</a:t>
            </a:r>
            <a:endParaRPr lang="en-US" sz="2300" dirty="0"/>
          </a:p>
        </p:txBody>
      </p:sp>
      <p:sp>
        <p:nvSpPr>
          <p:cNvPr id="19" name="Text 16"/>
          <p:cNvSpPr/>
          <p:nvPr/>
        </p:nvSpPr>
        <p:spPr>
          <a:xfrm>
            <a:off x="8330184"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Staff need a clear way to coordinate the journey.</a:t>
            </a:r>
            <a:endParaRPr lang="en-US" sz="1800" dirty="0"/>
          </a:p>
        </p:txBody>
      </p:sp>
      <p:sp>
        <p:nvSpPr>
          <p:cNvPr id="20" name="Text 17"/>
          <p:cNvSpPr/>
          <p:nvPr/>
        </p:nvSpPr>
        <p:spPr>
          <a:xfrm>
            <a:off x="548640" y="5980176"/>
            <a:ext cx="10149840" cy="475488"/>
          </a:xfrm>
          <a:prstGeom prst="rect">
            <a:avLst/>
          </a:prstGeom>
          <a:noFill/>
          <a:ln/>
        </p:spPr>
        <p:txBody>
          <a:bodyPr wrap="square" lIns="0" tIns="0" rIns="0" bIns="0" rtlCol="0" anchor="ctr"/>
          <a:lstStyle/>
          <a:p>
            <a:pPr indent="0" marL="0">
              <a:buNone/>
            </a:pPr>
            <a:r>
              <a:rPr lang="en-US" sz="1600" dirty="0">
                <a:solidFill>
                  <a:srgbClr val="285D4D"/>
                </a:solidFill>
                <a:latin typeface="Georgia" pitchFamily="34" charset="0"/>
                <a:ea typeface="Georgia" pitchFamily="34" charset="-122"/>
                <a:cs typeface="Georgia" pitchFamily="34" charset="-120"/>
              </a:rPr>
              <a:t>A seat in your car can open a door to care.</a:t>
            </a:r>
            <a:endParaRPr lang="en-US" sz="1600" dirty="0"/>
          </a:p>
        </p:txBody>
      </p:sp>
      <p:sp>
        <p:nvSpPr>
          <p:cNvPr id="21" name="Text 18"/>
          <p:cNvSpPr/>
          <p:nvPr/>
        </p:nvSpPr>
        <p:spPr>
          <a:xfrm>
            <a:off x="594360" y="6455664"/>
            <a:ext cx="9875520" cy="164592"/>
          </a:xfrm>
          <a:prstGeom prst="rect">
            <a:avLst/>
          </a:prstGeom>
          <a:noFill/>
          <a:ln/>
        </p:spPr>
        <p:txBody>
          <a:bodyPr wrap="square" lIns="0" tIns="0" rIns="0" bIns="0" rtlCol="0" anchor="ctr"/>
          <a:lstStyle/>
          <a:p>
            <a:pPr indent="0" marL="0">
              <a:buNone/>
            </a:pPr>
            <a:r>
              <a:rPr lang="en-US" sz="800" dirty="0">
                <a:solidFill>
                  <a:srgbClr val="66736E"/>
                </a:solidFill>
                <a:latin typeface="Arial" pitchFamily="34" charset="0"/>
                <a:ea typeface="Arial" pitchFamily="34" charset="-122"/>
                <a:cs typeface="Arial" pitchFamily="34" charset="-120"/>
              </a:rPr>
              <a:t>Source: supplied Belkin challenge brief, PDF pp. 19–20.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03  /  10</a:t>
            </a:r>
            <a:endParaRPr lang="en-US" sz="1000" dirty="0"/>
          </a:p>
        </p:txBody>
      </p:sp>
      <p:sp>
        <p:nvSpPr>
          <p:cNvPr id="6" name="Text 3"/>
          <p:cNvSpPr/>
          <p:nvPr/>
        </p:nvSpPr>
        <p:spPr>
          <a:xfrm>
            <a:off x="548640" y="950976"/>
            <a:ext cx="10972800" cy="27432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THE PROPOSAL</a:t>
            </a:r>
            <a:endParaRPr lang="en-US" sz="1100" dirty="0"/>
          </a:p>
        </p:txBody>
      </p:sp>
      <p:sp>
        <p:nvSpPr>
          <p:cNvPr id="7" name="Text 4"/>
          <p:cNvSpPr/>
          <p:nvPr/>
        </p:nvSpPr>
        <p:spPr>
          <a:xfrm>
            <a:off x="548640" y="1426464"/>
            <a:ext cx="10972800" cy="1243584"/>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Put the journey</a:t>
            </a:r>
            <a:endParaRPr lang="en-US" sz="3800" dirty="0"/>
          </a:p>
          <a:p>
            <a:pPr indent="0" marL="0">
              <a:buNone/>
            </a:pPr>
            <a:r>
              <a:rPr lang="en-US" sz="3800" dirty="0">
                <a:solidFill>
                  <a:srgbClr val="20302B"/>
                </a:solidFill>
                <a:latin typeface="Georgia" pitchFamily="34" charset="0"/>
                <a:ea typeface="Georgia" pitchFamily="34" charset="-122"/>
                <a:cs typeface="Georgia" pitchFamily="34" charset="-120"/>
              </a:rPr>
              <a:t>in one shared place.</a:t>
            </a:r>
            <a:endParaRPr lang="en-US" sz="3800" dirty="0"/>
          </a:p>
        </p:txBody>
      </p:sp>
      <p:sp>
        <p:nvSpPr>
          <p:cNvPr id="8" name="Shape 5"/>
          <p:cNvSpPr/>
          <p:nvPr/>
        </p:nvSpPr>
        <p:spPr>
          <a:xfrm>
            <a:off x="548640"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9" name="Text 6"/>
          <p:cNvSpPr/>
          <p:nvPr/>
        </p:nvSpPr>
        <p:spPr>
          <a:xfrm>
            <a:off x="777240"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01</a:t>
            </a:r>
            <a:endParaRPr lang="en-US" sz="1800" dirty="0"/>
          </a:p>
        </p:txBody>
      </p:sp>
      <p:sp>
        <p:nvSpPr>
          <p:cNvPr id="10" name="Text 7"/>
          <p:cNvSpPr/>
          <p:nvPr/>
        </p:nvSpPr>
        <p:spPr>
          <a:xfrm>
            <a:off x="777240"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Staff request</a:t>
            </a:r>
            <a:endParaRPr lang="en-US" sz="2300" dirty="0"/>
          </a:p>
        </p:txBody>
      </p:sp>
      <p:sp>
        <p:nvSpPr>
          <p:cNvPr id="11" name="Text 8"/>
          <p:cNvSpPr/>
          <p:nvPr/>
        </p:nvSpPr>
        <p:spPr>
          <a:xfrm>
            <a:off x="777240"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Arrange a free ride on a client’s behalf.</a:t>
            </a:r>
            <a:endParaRPr lang="en-US" sz="1800" dirty="0"/>
          </a:p>
        </p:txBody>
      </p:sp>
      <p:sp>
        <p:nvSpPr>
          <p:cNvPr id="12" name="Shape 9"/>
          <p:cNvSpPr/>
          <p:nvPr/>
        </p:nvSpPr>
        <p:spPr>
          <a:xfrm>
            <a:off x="4325112"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3" name="Text 10"/>
          <p:cNvSpPr/>
          <p:nvPr/>
        </p:nvSpPr>
        <p:spPr>
          <a:xfrm>
            <a:off x="4553712"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02</a:t>
            </a:r>
            <a:endParaRPr lang="en-US" sz="1800" dirty="0"/>
          </a:p>
        </p:txBody>
      </p:sp>
      <p:sp>
        <p:nvSpPr>
          <p:cNvPr id="14" name="Text 11"/>
          <p:cNvSpPr/>
          <p:nvPr/>
        </p:nvSpPr>
        <p:spPr>
          <a:xfrm>
            <a:off x="4553712"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Drivers respond</a:t>
            </a:r>
            <a:endParaRPr lang="en-US" sz="2300" dirty="0"/>
          </a:p>
        </p:txBody>
      </p:sp>
      <p:sp>
        <p:nvSpPr>
          <p:cNvPr id="15" name="Text 12"/>
          <p:cNvSpPr/>
          <p:nvPr/>
        </p:nvSpPr>
        <p:spPr>
          <a:xfrm>
            <a:off x="4553712"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Approved volunteers review and accept eligible rides.</a:t>
            </a:r>
            <a:endParaRPr lang="en-US" sz="1800" dirty="0"/>
          </a:p>
        </p:txBody>
      </p:sp>
      <p:sp>
        <p:nvSpPr>
          <p:cNvPr id="16" name="Shape 13"/>
          <p:cNvSpPr/>
          <p:nvPr/>
        </p:nvSpPr>
        <p:spPr>
          <a:xfrm>
            <a:off x="8101584"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7" name="Text 14"/>
          <p:cNvSpPr/>
          <p:nvPr/>
        </p:nvSpPr>
        <p:spPr>
          <a:xfrm>
            <a:off x="8330184"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03</a:t>
            </a:r>
            <a:endParaRPr lang="en-US" sz="1800" dirty="0"/>
          </a:p>
        </p:txBody>
      </p:sp>
      <p:sp>
        <p:nvSpPr>
          <p:cNvPr id="18" name="Text 15"/>
          <p:cNvSpPr/>
          <p:nvPr/>
        </p:nvSpPr>
        <p:spPr>
          <a:xfrm>
            <a:off x="8330184"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Everyone stays informed</a:t>
            </a:r>
            <a:endParaRPr lang="en-US" sz="2300" dirty="0"/>
          </a:p>
        </p:txBody>
      </p:sp>
      <p:sp>
        <p:nvSpPr>
          <p:cNvPr id="19" name="Text 16"/>
          <p:cNvSpPr/>
          <p:nvPr/>
        </p:nvSpPr>
        <p:spPr>
          <a:xfrm>
            <a:off x="8330184"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Track the journey from request to completion.</a:t>
            </a:r>
            <a:endParaRPr lang="en-US" sz="1800" dirty="0"/>
          </a:p>
        </p:txBody>
      </p:sp>
      <p:sp>
        <p:nvSpPr>
          <p:cNvPr id="20" name="Text 17"/>
          <p:cNvSpPr/>
          <p:nvPr/>
        </p:nvSpPr>
        <p:spPr>
          <a:xfrm>
            <a:off x="548640" y="5980176"/>
            <a:ext cx="10149840" cy="475488"/>
          </a:xfrm>
          <a:prstGeom prst="rect">
            <a:avLst/>
          </a:prstGeom>
          <a:noFill/>
          <a:ln/>
        </p:spPr>
        <p:txBody>
          <a:bodyPr wrap="square" lIns="0" tIns="0" rIns="0" bIns="0" rtlCol="0" anchor="ctr"/>
          <a:lstStyle/>
          <a:p>
            <a:pPr indent="0" marL="0">
              <a:buNone/>
            </a:pPr>
            <a:r>
              <a:rPr lang="en-US" sz="1600" dirty="0">
                <a:solidFill>
                  <a:srgbClr val="285D4D"/>
                </a:solidFill>
                <a:latin typeface="Georgia" pitchFamily="34" charset="0"/>
                <a:ea typeface="Georgia" pitchFamily="34" charset="-122"/>
                <a:cs typeface="Georgia" pitchFamily="34" charset="-120"/>
              </a:rPr>
              <a:t>A little coordination. A meaningful difference.</a:t>
            </a:r>
            <a:endParaRPr lang="en-US" sz="1600" dirty="0"/>
          </a:p>
        </p:txBody>
      </p:sp>
      <p:sp>
        <p:nvSpPr>
          <p:cNvPr id="21" name="Text 18"/>
          <p:cNvSpPr/>
          <p:nvPr/>
        </p:nvSpPr>
        <p:spPr>
          <a:xfrm>
            <a:off x="594360" y="6455664"/>
            <a:ext cx="9875520" cy="164592"/>
          </a:xfrm>
          <a:prstGeom prst="rect">
            <a:avLst/>
          </a:prstGeom>
          <a:noFill/>
          <a:ln/>
        </p:spPr>
        <p:txBody>
          <a:bodyPr wrap="square" lIns="0" tIns="0" rIns="0" bIns="0" rtlCol="0" anchor="ctr"/>
          <a:lstStyle/>
          <a:p>
            <a:pPr indent="0" marL="0">
              <a:buNone/>
            </a:pPr>
            <a:r>
              <a:rPr lang="en-US" sz="800" dirty="0">
                <a:solidFill>
                  <a:srgbClr val="66736E"/>
                </a:solidFill>
                <a:latin typeface="Arial" pitchFamily="34" charset="0"/>
                <a:ea typeface="Arial" pitchFamily="34" charset="-122"/>
                <a:cs typeface="Arial" pitchFamily="34" charset="-120"/>
              </a:rPr>
              <a:t>Source: supplied Belkin challenge brief, PDF pp. 19–20.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04  /  10</a:t>
            </a:r>
            <a:endParaRPr lang="en-US" sz="1000" dirty="0"/>
          </a:p>
        </p:txBody>
      </p:sp>
      <p:sp>
        <p:nvSpPr>
          <p:cNvPr id="6" name="Text 3"/>
          <p:cNvSpPr/>
          <p:nvPr/>
        </p:nvSpPr>
        <p:spPr>
          <a:xfrm>
            <a:off x="548640" y="950976"/>
            <a:ext cx="10972800" cy="27432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HOW IT WORKS</a:t>
            </a:r>
            <a:endParaRPr lang="en-US" sz="1100" dirty="0"/>
          </a:p>
        </p:txBody>
      </p:sp>
      <p:sp>
        <p:nvSpPr>
          <p:cNvPr id="7" name="Text 4"/>
          <p:cNvSpPr/>
          <p:nvPr/>
        </p:nvSpPr>
        <p:spPr>
          <a:xfrm>
            <a:off x="548640" y="1426464"/>
            <a:ext cx="10972800" cy="1243584"/>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People at the heart</a:t>
            </a:r>
            <a:endParaRPr lang="en-US" sz="3800" dirty="0"/>
          </a:p>
          <a:p>
            <a:pPr indent="0" marL="0">
              <a:buNone/>
            </a:pPr>
            <a:r>
              <a:rPr lang="en-US" sz="3800" dirty="0">
                <a:solidFill>
                  <a:srgbClr val="20302B"/>
                </a:solidFill>
                <a:latin typeface="Georgia" pitchFamily="34" charset="0"/>
                <a:ea typeface="Georgia" pitchFamily="34" charset="-122"/>
                <a:cs typeface="Georgia" pitchFamily="34" charset="-120"/>
              </a:rPr>
              <a:t>of every journey.</a:t>
            </a:r>
            <a:endParaRPr lang="en-US" sz="3800" dirty="0"/>
          </a:p>
        </p:txBody>
      </p:sp>
      <p:pic>
        <p:nvPicPr>
          <p:cNvPr id="8" name="Image 1" descr="/Users/kentonbell/Documents/GitHub/CareRide-Team-2/output/presentation/assets/heart-handshake.png">    </p:cNvPr>
          <p:cNvPicPr>
            <a:picLocks noChangeAspect="1"/>
          </p:cNvPicPr>
          <p:nvPr/>
        </p:nvPicPr>
        <p:blipFill>
          <a:blip r:embed="rId2"/>
          <a:stretch>
            <a:fillRect/>
          </a:stretch>
        </p:blipFill>
        <p:spPr>
          <a:xfrm>
            <a:off x="1810512" y="2916936"/>
            <a:ext cx="1024128" cy="1024128"/>
          </a:xfrm>
          <a:prstGeom prst="rect">
            <a:avLst/>
          </a:prstGeom>
        </p:spPr>
      </p:pic>
      <p:sp>
        <p:nvSpPr>
          <p:cNvPr id="9" name="Text 5"/>
          <p:cNvSpPr/>
          <p:nvPr/>
        </p:nvSpPr>
        <p:spPr>
          <a:xfrm>
            <a:off x="1078992" y="4270248"/>
            <a:ext cx="3200400" cy="457200"/>
          </a:xfrm>
          <a:prstGeom prst="rect">
            <a:avLst/>
          </a:prstGeom>
          <a:noFill/>
          <a:ln/>
        </p:spPr>
        <p:txBody>
          <a:bodyPr wrap="square" lIns="0" tIns="0" rIns="0" bIns="0" rtlCol="0" anchor="ctr"/>
          <a:lstStyle/>
          <a:p>
            <a:pPr indent="0" marL="0">
              <a:buNone/>
            </a:pPr>
            <a:r>
              <a:rPr lang="en-US" sz="2400" b="1" dirty="0">
                <a:solidFill>
                  <a:srgbClr val="285D4D"/>
                </a:solidFill>
                <a:latin typeface="Arial" pitchFamily="34" charset="0"/>
                <a:ea typeface="Arial" pitchFamily="34" charset="-122"/>
                <a:cs typeface="Arial" pitchFamily="34" charset="-120"/>
              </a:rPr>
              <a:t>Staff arrange</a:t>
            </a:r>
            <a:endParaRPr lang="en-US" sz="2400" dirty="0"/>
          </a:p>
        </p:txBody>
      </p:sp>
      <p:pic>
        <p:nvPicPr>
          <p:cNvPr id="10" name="Image 2" descr="/Users/kentonbell/Documents/GitHub/CareRide-Team-2/output/presentation/assets/car-front.png">    </p:cNvPr>
          <p:cNvPicPr>
            <a:picLocks noChangeAspect="1"/>
          </p:cNvPicPr>
          <p:nvPr/>
        </p:nvPicPr>
        <p:blipFill>
          <a:blip r:embed="rId3"/>
          <a:stretch>
            <a:fillRect/>
          </a:stretch>
        </p:blipFill>
        <p:spPr>
          <a:xfrm>
            <a:off x="5577840" y="2916936"/>
            <a:ext cx="1024128" cy="1024128"/>
          </a:xfrm>
          <a:prstGeom prst="rect">
            <a:avLst/>
          </a:prstGeom>
        </p:spPr>
      </p:pic>
      <p:sp>
        <p:nvSpPr>
          <p:cNvPr id="11" name="Text 6"/>
          <p:cNvSpPr/>
          <p:nvPr/>
        </p:nvSpPr>
        <p:spPr>
          <a:xfrm>
            <a:off x="4846320" y="4270248"/>
            <a:ext cx="3200400" cy="457200"/>
          </a:xfrm>
          <a:prstGeom prst="rect">
            <a:avLst/>
          </a:prstGeom>
          <a:noFill/>
          <a:ln/>
        </p:spPr>
        <p:txBody>
          <a:bodyPr wrap="square" lIns="0" tIns="0" rIns="0" bIns="0" rtlCol="0" anchor="ctr"/>
          <a:lstStyle/>
          <a:p>
            <a:pPr indent="0" marL="0">
              <a:buNone/>
            </a:pPr>
            <a:r>
              <a:rPr lang="en-US" sz="2400" b="1" dirty="0">
                <a:solidFill>
                  <a:srgbClr val="285D4D"/>
                </a:solidFill>
                <a:latin typeface="Arial" pitchFamily="34" charset="0"/>
                <a:ea typeface="Arial" pitchFamily="34" charset="-122"/>
                <a:cs typeface="Arial" pitchFamily="34" charset="-120"/>
              </a:rPr>
              <a:t>Drivers offer</a:t>
            </a:r>
            <a:endParaRPr lang="en-US" sz="2400" dirty="0"/>
          </a:p>
        </p:txBody>
      </p:sp>
      <p:pic>
        <p:nvPicPr>
          <p:cNvPr id="12" name="Image 3" descr="/Users/kentonbell/Documents/GitHub/CareRide-Team-2/output/presentation/assets/shield-check.png">    </p:cNvPr>
          <p:cNvPicPr>
            <a:picLocks noChangeAspect="1"/>
          </p:cNvPicPr>
          <p:nvPr/>
        </p:nvPicPr>
        <p:blipFill>
          <a:blip r:embed="rId4"/>
          <a:stretch>
            <a:fillRect/>
          </a:stretch>
        </p:blipFill>
        <p:spPr>
          <a:xfrm>
            <a:off x="9345168" y="2916936"/>
            <a:ext cx="1024128" cy="1024128"/>
          </a:xfrm>
          <a:prstGeom prst="rect">
            <a:avLst/>
          </a:prstGeom>
        </p:spPr>
      </p:pic>
      <p:sp>
        <p:nvSpPr>
          <p:cNvPr id="13" name="Text 7"/>
          <p:cNvSpPr/>
          <p:nvPr/>
        </p:nvSpPr>
        <p:spPr>
          <a:xfrm>
            <a:off x="8613648" y="4270248"/>
            <a:ext cx="3200400" cy="457200"/>
          </a:xfrm>
          <a:prstGeom prst="rect">
            <a:avLst/>
          </a:prstGeom>
          <a:noFill/>
          <a:ln/>
        </p:spPr>
        <p:txBody>
          <a:bodyPr wrap="square" lIns="0" tIns="0" rIns="0" bIns="0" rtlCol="0" anchor="ctr"/>
          <a:lstStyle/>
          <a:p>
            <a:pPr indent="0" marL="0">
              <a:buNone/>
            </a:pPr>
            <a:r>
              <a:rPr lang="en-US" sz="2400" b="1" dirty="0">
                <a:solidFill>
                  <a:srgbClr val="285D4D"/>
                </a:solidFill>
                <a:latin typeface="Arial" pitchFamily="34" charset="0"/>
                <a:ea typeface="Arial" pitchFamily="34" charset="-122"/>
                <a:cs typeface="Arial" pitchFamily="34" charset="-120"/>
              </a:rPr>
              <a:t>Organizations approve</a:t>
            </a:r>
            <a:endParaRPr lang="en-US" sz="2400" dirty="0"/>
          </a:p>
        </p:txBody>
      </p:sp>
      <p:sp>
        <p:nvSpPr>
          <p:cNvPr id="14" name="Text 8"/>
          <p:cNvSpPr/>
          <p:nvPr/>
        </p:nvSpPr>
        <p:spPr>
          <a:xfrm>
            <a:off x="685800" y="5102352"/>
            <a:ext cx="10881360" cy="475488"/>
          </a:xfrm>
          <a:prstGeom prst="rect">
            <a:avLst/>
          </a:prstGeom>
          <a:noFill/>
          <a:ln/>
        </p:spPr>
        <p:txBody>
          <a:bodyPr wrap="square" lIns="0" tIns="0" rIns="0" bIns="0" rtlCol="0" anchor="ctr"/>
          <a:lstStyle/>
          <a:p>
            <a:pPr indent="0" marL="0">
              <a:buNone/>
            </a:pPr>
            <a:r>
              <a:rPr lang="en-US" sz="2200" dirty="0">
                <a:solidFill>
                  <a:srgbClr val="20302B"/>
                </a:solidFill>
                <a:latin typeface="Arial" pitchFamily="34" charset="0"/>
                <a:ea typeface="Arial" pitchFamily="34" charset="-122"/>
                <a:cs typeface="Arial" pitchFamily="34" charset="-120"/>
              </a:rPr>
              <a:t>Awaiting driver   →   Driver assigned   →   On the way   →   Completed</a:t>
            </a:r>
            <a:endParaRPr lang="en-US" sz="2200" dirty="0"/>
          </a:p>
        </p:txBody>
      </p:sp>
      <p:sp>
        <p:nvSpPr>
          <p:cNvPr id="15" name="Text 9"/>
          <p:cNvSpPr/>
          <p:nvPr/>
        </p:nvSpPr>
        <p:spPr>
          <a:xfrm>
            <a:off x="548640" y="5980176"/>
            <a:ext cx="10149840" cy="475488"/>
          </a:xfrm>
          <a:prstGeom prst="rect">
            <a:avLst/>
          </a:prstGeom>
          <a:noFill/>
          <a:ln/>
        </p:spPr>
        <p:txBody>
          <a:bodyPr wrap="square" lIns="0" tIns="0" rIns="0" bIns="0" rtlCol="0" anchor="ctr"/>
          <a:lstStyle/>
          <a:p>
            <a:pPr indent="0" marL="0">
              <a:buNone/>
            </a:pPr>
            <a:r>
              <a:rPr lang="en-US" sz="1600" dirty="0">
                <a:solidFill>
                  <a:srgbClr val="285D4D"/>
                </a:solidFill>
                <a:latin typeface="Georgia" pitchFamily="34" charset="0"/>
                <a:ea typeface="Georgia" pitchFamily="34" charset="-122"/>
                <a:cs typeface="Georgia" pitchFamily="34" charset="-120"/>
              </a:rPr>
              <a:t>Every connection is another step toward care.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05  /  10</a:t>
            </a:r>
            <a:endParaRPr lang="en-US" sz="1000" dirty="0"/>
          </a:p>
        </p:txBody>
      </p:sp>
      <p:sp>
        <p:nvSpPr>
          <p:cNvPr id="6" name="Text 3"/>
          <p:cNvSpPr/>
          <p:nvPr/>
        </p:nvSpPr>
        <p:spPr>
          <a:xfrm>
            <a:off x="548640" y="987552"/>
            <a:ext cx="3383280" cy="256032"/>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THE STAFF EXPERIENCE</a:t>
            </a:r>
            <a:endParaRPr lang="en-US" sz="1100" dirty="0"/>
          </a:p>
        </p:txBody>
      </p:sp>
      <p:sp>
        <p:nvSpPr>
          <p:cNvPr id="7" name="Text 4"/>
          <p:cNvSpPr/>
          <p:nvPr/>
        </p:nvSpPr>
        <p:spPr>
          <a:xfrm>
            <a:off x="548640" y="1581912"/>
            <a:ext cx="3264408" cy="1463040"/>
          </a:xfrm>
          <a:prstGeom prst="rect">
            <a:avLst/>
          </a:prstGeom>
          <a:noFill/>
          <a:ln/>
        </p:spPr>
        <p:txBody>
          <a:bodyPr wrap="square" lIns="0" tIns="0" rIns="0" bIns="0" rtlCol="0" anchor="ctr"/>
          <a:lstStyle/>
          <a:p>
            <a:pPr indent="0" marL="0">
              <a:buNone/>
            </a:pPr>
            <a:r>
              <a:rPr lang="en-US" sz="3200" dirty="0">
                <a:solidFill>
                  <a:srgbClr val="20302B"/>
                </a:solidFill>
                <a:latin typeface="Georgia" pitchFamily="34" charset="0"/>
                <a:ea typeface="Georgia" pitchFamily="34" charset="-122"/>
                <a:cs typeface="Georgia" pitchFamily="34" charset="-120"/>
              </a:rPr>
              <a:t>A ride to care</a:t>
            </a:r>
            <a:endParaRPr lang="en-US" sz="3200" dirty="0"/>
          </a:p>
          <a:p>
            <a:pPr indent="0" marL="0">
              <a:buNone/>
            </a:pPr>
            <a:r>
              <a:rPr lang="en-US" sz="3200" dirty="0">
                <a:solidFill>
                  <a:srgbClr val="20302B"/>
                </a:solidFill>
                <a:latin typeface="Georgia" pitchFamily="34" charset="0"/>
                <a:ea typeface="Georgia" pitchFamily="34" charset="-122"/>
                <a:cs typeface="Georgia" pitchFamily="34" charset="-120"/>
              </a:rPr>
              <a:t>starts with you.</a:t>
            </a:r>
            <a:endParaRPr lang="en-US" sz="3200" dirty="0"/>
          </a:p>
        </p:txBody>
      </p:sp>
      <p:pic>
        <p:nvPicPr>
          <p:cNvPr id="8" name="Image 1" descr="/Users/kentonbell/Documents/GitHub/CareRide-Team-2/output/presentation/assets/booking.png">    </p:cNvPr>
          <p:cNvPicPr>
            <a:picLocks noChangeAspect="1"/>
          </p:cNvPicPr>
          <p:nvPr/>
        </p:nvPicPr>
        <p:blipFill>
          <a:blip r:embed="rId2"/>
          <a:stretch>
            <a:fillRect/>
          </a:stretch>
        </p:blipFill>
        <p:spPr>
          <a:xfrm>
            <a:off x="4005072" y="987552"/>
            <a:ext cx="7635240" cy="5302250"/>
          </a:xfrm>
          <a:prstGeom prst="rect">
            <a:avLst/>
          </a:prstGeom>
        </p:spPr>
      </p:pic>
      <p:sp>
        <p:nvSpPr>
          <p:cNvPr id="9" name="Shape 5"/>
          <p:cNvSpPr/>
          <p:nvPr/>
        </p:nvSpPr>
        <p:spPr>
          <a:xfrm>
            <a:off x="548640" y="3182112"/>
            <a:ext cx="3127248" cy="594360"/>
          </a:xfrm>
          <a:prstGeom prst="roundRect">
            <a:avLst>
              <a:gd name="adj" fmla="val 23077"/>
            </a:avLst>
          </a:prstGeom>
          <a:solidFill>
            <a:srgbClr val="E8F3ED"/>
          </a:solidFill>
          <a:ln w="12700">
            <a:solidFill>
              <a:srgbClr val="E8F3ED">
                <a:alpha val="0"/>
              </a:srgbClr>
            </a:solidFill>
            <a:prstDash val="solid"/>
          </a:ln>
        </p:spPr>
      </p:sp>
      <p:sp>
        <p:nvSpPr>
          <p:cNvPr id="10" name="Text 6"/>
          <p:cNvSpPr/>
          <p:nvPr/>
        </p:nvSpPr>
        <p:spPr>
          <a:xfrm>
            <a:off x="731520" y="3282696"/>
            <a:ext cx="2761488" cy="384048"/>
          </a:xfrm>
          <a:prstGeom prst="rect">
            <a:avLst/>
          </a:prstGeom>
          <a:noFill/>
          <a:ln/>
        </p:spPr>
        <p:txBody>
          <a:bodyPr wrap="square" lIns="0" tIns="0" rIns="0" bIns="0" rtlCol="0" anchor="ctr"/>
          <a:lstStyle/>
          <a:p>
            <a:pPr indent="0" marL="0">
              <a:buNone/>
            </a:pPr>
            <a:r>
              <a:rPr lang="en-US" sz="1800" b="1" dirty="0">
                <a:solidFill>
                  <a:srgbClr val="285D4D"/>
                </a:solidFill>
                <a:latin typeface="Arial" pitchFamily="34" charset="0"/>
                <a:ea typeface="Arial" pitchFamily="34" charset="-122"/>
                <a:cs typeface="Arial" pitchFamily="34" charset="-120"/>
              </a:rPr>
              <a:t>Select the client</a:t>
            </a:r>
            <a:endParaRPr lang="en-US" sz="1800" dirty="0"/>
          </a:p>
        </p:txBody>
      </p:sp>
      <p:sp>
        <p:nvSpPr>
          <p:cNvPr id="11" name="Shape 7"/>
          <p:cNvSpPr/>
          <p:nvPr/>
        </p:nvSpPr>
        <p:spPr>
          <a:xfrm>
            <a:off x="548640" y="3931920"/>
            <a:ext cx="3127248" cy="594360"/>
          </a:xfrm>
          <a:prstGeom prst="roundRect">
            <a:avLst>
              <a:gd name="adj" fmla="val 23077"/>
            </a:avLst>
          </a:prstGeom>
          <a:solidFill>
            <a:srgbClr val="E8F3ED"/>
          </a:solidFill>
          <a:ln w="12700">
            <a:solidFill>
              <a:srgbClr val="E8F3ED">
                <a:alpha val="0"/>
              </a:srgbClr>
            </a:solidFill>
            <a:prstDash val="solid"/>
          </a:ln>
        </p:spPr>
      </p:sp>
      <p:sp>
        <p:nvSpPr>
          <p:cNvPr id="12" name="Text 8"/>
          <p:cNvSpPr/>
          <p:nvPr/>
        </p:nvSpPr>
        <p:spPr>
          <a:xfrm>
            <a:off x="731520" y="4032504"/>
            <a:ext cx="2761488" cy="384048"/>
          </a:xfrm>
          <a:prstGeom prst="rect">
            <a:avLst/>
          </a:prstGeom>
          <a:noFill/>
          <a:ln/>
        </p:spPr>
        <p:txBody>
          <a:bodyPr wrap="square" lIns="0" tIns="0" rIns="0" bIns="0" rtlCol="0" anchor="ctr"/>
          <a:lstStyle/>
          <a:p>
            <a:pPr indent="0" marL="0">
              <a:buNone/>
            </a:pPr>
            <a:r>
              <a:rPr lang="en-US" sz="1800" b="1" dirty="0">
                <a:solidFill>
                  <a:srgbClr val="285D4D"/>
                </a:solidFill>
                <a:latin typeface="Arial" pitchFamily="34" charset="0"/>
                <a:ea typeface="Arial" pitchFamily="34" charset="-122"/>
                <a:cs typeface="Arial" pitchFamily="34" charset="-120"/>
              </a:rPr>
              <a:t>Choose the journey</a:t>
            </a:r>
            <a:endParaRPr lang="en-US" sz="1800" dirty="0"/>
          </a:p>
        </p:txBody>
      </p:sp>
      <p:sp>
        <p:nvSpPr>
          <p:cNvPr id="13" name="Shape 9"/>
          <p:cNvSpPr/>
          <p:nvPr/>
        </p:nvSpPr>
        <p:spPr>
          <a:xfrm>
            <a:off x="548640" y="4681728"/>
            <a:ext cx="3127248" cy="594360"/>
          </a:xfrm>
          <a:prstGeom prst="roundRect">
            <a:avLst>
              <a:gd name="adj" fmla="val 23077"/>
            </a:avLst>
          </a:prstGeom>
          <a:solidFill>
            <a:srgbClr val="E8F3ED"/>
          </a:solidFill>
          <a:ln w="12700">
            <a:solidFill>
              <a:srgbClr val="E8F3ED">
                <a:alpha val="0"/>
              </a:srgbClr>
            </a:solidFill>
            <a:prstDash val="solid"/>
          </a:ln>
        </p:spPr>
      </p:sp>
      <p:sp>
        <p:nvSpPr>
          <p:cNvPr id="14" name="Text 10"/>
          <p:cNvSpPr/>
          <p:nvPr/>
        </p:nvSpPr>
        <p:spPr>
          <a:xfrm>
            <a:off x="731520" y="4782312"/>
            <a:ext cx="2761488" cy="384048"/>
          </a:xfrm>
          <a:prstGeom prst="rect">
            <a:avLst/>
          </a:prstGeom>
          <a:noFill/>
          <a:ln/>
        </p:spPr>
        <p:txBody>
          <a:bodyPr wrap="square" lIns="0" tIns="0" rIns="0" bIns="0" rtlCol="0" anchor="ctr"/>
          <a:lstStyle/>
          <a:p>
            <a:pPr indent="0" marL="0">
              <a:buNone/>
            </a:pPr>
            <a:r>
              <a:rPr lang="en-US" sz="1800" b="1" dirty="0">
                <a:solidFill>
                  <a:srgbClr val="285D4D"/>
                </a:solidFill>
                <a:latin typeface="Arial" pitchFamily="34" charset="0"/>
                <a:ea typeface="Arial" pitchFamily="34" charset="-122"/>
                <a:cs typeface="Arial" pitchFamily="34" charset="-120"/>
              </a:rPr>
              <a:t>Request the ride</a:t>
            </a:r>
            <a:endParaRPr lang="en-US" sz="1800" dirty="0"/>
          </a:p>
        </p:txBody>
      </p:sp>
      <p:sp>
        <p:nvSpPr>
          <p:cNvPr id="15" name="Text 11"/>
          <p:cNvSpPr/>
          <p:nvPr/>
        </p:nvSpPr>
        <p:spPr>
          <a:xfrm>
            <a:off x="594360" y="6318504"/>
            <a:ext cx="731520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ACTUAL PROTOTYPE · SYNTHETIC DEMO DATA</a:t>
            </a:r>
            <a:endParaRPr lang="en-US" sz="1000" dirty="0"/>
          </a:p>
        </p:txBody>
      </p:sp>
      <p:sp>
        <p:nvSpPr>
          <p:cNvPr id="16" name="Text 12"/>
          <p:cNvSpPr/>
          <p:nvPr/>
        </p:nvSpPr>
        <p:spPr>
          <a:xfrm>
            <a:off x="594360" y="5696712"/>
            <a:ext cx="2487168" cy="530352"/>
          </a:xfrm>
          <a:prstGeom prst="rect">
            <a:avLst/>
          </a:prstGeom>
          <a:noFill/>
          <a:ln/>
        </p:spPr>
        <p:txBody>
          <a:bodyPr wrap="square" lIns="0" tIns="0" rIns="0" bIns="0" rtlCol="0" anchor="ctr"/>
          <a:lstStyle/>
          <a:p>
            <a:pPr indent="0" marL="0">
              <a:buNone/>
            </a:pPr>
            <a:r>
              <a:rPr lang="en-US" sz="1700" dirty="0">
                <a:solidFill>
                  <a:srgbClr val="285D4D"/>
                </a:solidFill>
                <a:latin typeface="Georgia" pitchFamily="34" charset="0"/>
                <a:ea typeface="Georgia" pitchFamily="34" charset="-122"/>
                <a:cs typeface="Georgia" pitchFamily="34" charset="-120"/>
              </a:rPr>
              <a:t>Built for the people who care for our communities.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06  /  10</a:t>
            </a:r>
            <a:endParaRPr lang="en-US" sz="1000" dirty="0"/>
          </a:p>
        </p:txBody>
      </p:sp>
      <p:sp>
        <p:nvSpPr>
          <p:cNvPr id="6" name="Text 3"/>
          <p:cNvSpPr/>
          <p:nvPr/>
        </p:nvSpPr>
        <p:spPr>
          <a:xfrm>
            <a:off x="548640" y="987552"/>
            <a:ext cx="3383280" cy="256032"/>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THE DRIVER EXPERIENCE</a:t>
            </a:r>
            <a:endParaRPr lang="en-US" sz="1100" dirty="0"/>
          </a:p>
        </p:txBody>
      </p:sp>
      <p:sp>
        <p:nvSpPr>
          <p:cNvPr id="7" name="Text 4"/>
          <p:cNvSpPr/>
          <p:nvPr/>
        </p:nvSpPr>
        <p:spPr>
          <a:xfrm>
            <a:off x="548640" y="1581912"/>
            <a:ext cx="3264408" cy="1463040"/>
          </a:xfrm>
          <a:prstGeom prst="rect">
            <a:avLst/>
          </a:prstGeom>
          <a:noFill/>
          <a:ln/>
        </p:spPr>
        <p:txBody>
          <a:bodyPr wrap="square" lIns="0" tIns="0" rIns="0" bIns="0" rtlCol="0" anchor="ctr"/>
          <a:lstStyle/>
          <a:p>
            <a:pPr indent="0" marL="0">
              <a:buNone/>
            </a:pPr>
            <a:r>
              <a:rPr lang="en-US" sz="3200" dirty="0">
                <a:solidFill>
                  <a:srgbClr val="20302B"/>
                </a:solidFill>
                <a:latin typeface="Georgia" pitchFamily="34" charset="0"/>
                <a:ea typeface="Georgia" pitchFamily="34" charset="-122"/>
                <a:cs typeface="Georgia" pitchFamily="34" charset="-120"/>
              </a:rPr>
              <a:t>A helping hand</a:t>
            </a:r>
            <a:endParaRPr lang="en-US" sz="3200" dirty="0"/>
          </a:p>
          <a:p>
            <a:pPr indent="0" marL="0">
              <a:buNone/>
            </a:pPr>
            <a:r>
              <a:rPr lang="en-US" sz="3200" dirty="0">
                <a:solidFill>
                  <a:srgbClr val="20302B"/>
                </a:solidFill>
                <a:latin typeface="Georgia" pitchFamily="34" charset="0"/>
                <a:ea typeface="Georgia" pitchFamily="34" charset="-122"/>
                <a:cs typeface="Georgia" pitchFamily="34" charset="-120"/>
              </a:rPr>
              <a:t>behind the wheel.</a:t>
            </a:r>
            <a:endParaRPr lang="en-US" sz="3200" dirty="0"/>
          </a:p>
        </p:txBody>
      </p:sp>
      <p:pic>
        <p:nvPicPr>
          <p:cNvPr id="8" name="Image 1" descr="/Users/kentonbell/Documents/GitHub/CareRide-Team-2/output/presentation/assets/driver.png">    </p:cNvPr>
          <p:cNvPicPr>
            <a:picLocks noChangeAspect="1"/>
          </p:cNvPicPr>
          <p:nvPr/>
        </p:nvPicPr>
        <p:blipFill>
          <a:blip r:embed="rId2"/>
          <a:stretch>
            <a:fillRect/>
          </a:stretch>
        </p:blipFill>
        <p:spPr>
          <a:xfrm>
            <a:off x="4005072" y="987552"/>
            <a:ext cx="7635240" cy="5302250"/>
          </a:xfrm>
          <a:prstGeom prst="rect">
            <a:avLst/>
          </a:prstGeom>
        </p:spPr>
      </p:pic>
      <p:sp>
        <p:nvSpPr>
          <p:cNvPr id="9" name="Shape 5"/>
          <p:cNvSpPr/>
          <p:nvPr/>
        </p:nvSpPr>
        <p:spPr>
          <a:xfrm>
            <a:off x="548640" y="3182112"/>
            <a:ext cx="3127248" cy="594360"/>
          </a:xfrm>
          <a:prstGeom prst="roundRect">
            <a:avLst>
              <a:gd name="adj" fmla="val 23077"/>
            </a:avLst>
          </a:prstGeom>
          <a:solidFill>
            <a:srgbClr val="E8F3ED"/>
          </a:solidFill>
          <a:ln w="12700">
            <a:solidFill>
              <a:srgbClr val="E8F3ED">
                <a:alpha val="0"/>
              </a:srgbClr>
            </a:solidFill>
            <a:prstDash val="solid"/>
          </a:ln>
        </p:spPr>
      </p:sp>
      <p:sp>
        <p:nvSpPr>
          <p:cNvPr id="10" name="Text 6"/>
          <p:cNvSpPr/>
          <p:nvPr/>
        </p:nvSpPr>
        <p:spPr>
          <a:xfrm>
            <a:off x="731520" y="3282696"/>
            <a:ext cx="2761488" cy="384048"/>
          </a:xfrm>
          <a:prstGeom prst="rect">
            <a:avLst/>
          </a:prstGeom>
          <a:noFill/>
          <a:ln/>
        </p:spPr>
        <p:txBody>
          <a:bodyPr wrap="square" lIns="0" tIns="0" rIns="0" bIns="0" rtlCol="0" anchor="ctr"/>
          <a:lstStyle/>
          <a:p>
            <a:pPr indent="0" marL="0">
              <a:buNone/>
            </a:pPr>
            <a:r>
              <a:rPr lang="en-US" sz="1800" b="1" dirty="0">
                <a:solidFill>
                  <a:srgbClr val="285D4D"/>
                </a:solidFill>
                <a:latin typeface="Arial" pitchFamily="34" charset="0"/>
                <a:ea typeface="Arial" pitchFamily="34" charset="-122"/>
                <a:cs typeface="Arial" pitchFamily="34" charset="-120"/>
              </a:rPr>
              <a:t>Review eligible rides</a:t>
            </a:r>
            <a:endParaRPr lang="en-US" sz="1800" dirty="0"/>
          </a:p>
        </p:txBody>
      </p:sp>
      <p:sp>
        <p:nvSpPr>
          <p:cNvPr id="11" name="Shape 7"/>
          <p:cNvSpPr/>
          <p:nvPr/>
        </p:nvSpPr>
        <p:spPr>
          <a:xfrm>
            <a:off x="548640" y="3931920"/>
            <a:ext cx="3127248" cy="594360"/>
          </a:xfrm>
          <a:prstGeom prst="roundRect">
            <a:avLst>
              <a:gd name="adj" fmla="val 23077"/>
            </a:avLst>
          </a:prstGeom>
          <a:solidFill>
            <a:srgbClr val="E8F3ED"/>
          </a:solidFill>
          <a:ln w="12700">
            <a:solidFill>
              <a:srgbClr val="E8F3ED">
                <a:alpha val="0"/>
              </a:srgbClr>
            </a:solidFill>
            <a:prstDash val="solid"/>
          </a:ln>
        </p:spPr>
      </p:sp>
      <p:sp>
        <p:nvSpPr>
          <p:cNvPr id="12" name="Text 8"/>
          <p:cNvSpPr/>
          <p:nvPr/>
        </p:nvSpPr>
        <p:spPr>
          <a:xfrm>
            <a:off x="731520" y="4032504"/>
            <a:ext cx="2761488" cy="384048"/>
          </a:xfrm>
          <a:prstGeom prst="rect">
            <a:avLst/>
          </a:prstGeom>
          <a:noFill/>
          <a:ln/>
        </p:spPr>
        <p:txBody>
          <a:bodyPr wrap="square" lIns="0" tIns="0" rIns="0" bIns="0" rtlCol="0" anchor="ctr"/>
          <a:lstStyle/>
          <a:p>
            <a:pPr indent="0" marL="0">
              <a:buNone/>
            </a:pPr>
            <a:r>
              <a:rPr lang="en-US" sz="1800" b="1" dirty="0">
                <a:solidFill>
                  <a:srgbClr val="285D4D"/>
                </a:solidFill>
                <a:latin typeface="Arial" pitchFamily="34" charset="0"/>
                <a:ea typeface="Arial" pitchFamily="34" charset="-122"/>
                <a:cs typeface="Arial" pitchFamily="34" charset="-120"/>
              </a:rPr>
              <a:t>Accept a request</a:t>
            </a:r>
            <a:endParaRPr lang="en-US" sz="1800" dirty="0"/>
          </a:p>
        </p:txBody>
      </p:sp>
      <p:sp>
        <p:nvSpPr>
          <p:cNvPr id="13" name="Shape 9"/>
          <p:cNvSpPr/>
          <p:nvPr/>
        </p:nvSpPr>
        <p:spPr>
          <a:xfrm>
            <a:off x="548640" y="4681728"/>
            <a:ext cx="3127248" cy="594360"/>
          </a:xfrm>
          <a:prstGeom prst="roundRect">
            <a:avLst>
              <a:gd name="adj" fmla="val 23077"/>
            </a:avLst>
          </a:prstGeom>
          <a:solidFill>
            <a:srgbClr val="E8F3ED"/>
          </a:solidFill>
          <a:ln w="12700">
            <a:solidFill>
              <a:srgbClr val="E8F3ED">
                <a:alpha val="0"/>
              </a:srgbClr>
            </a:solidFill>
            <a:prstDash val="solid"/>
          </a:ln>
        </p:spPr>
      </p:sp>
      <p:sp>
        <p:nvSpPr>
          <p:cNvPr id="14" name="Text 10"/>
          <p:cNvSpPr/>
          <p:nvPr/>
        </p:nvSpPr>
        <p:spPr>
          <a:xfrm>
            <a:off x="731520" y="4782312"/>
            <a:ext cx="2761488" cy="384048"/>
          </a:xfrm>
          <a:prstGeom prst="rect">
            <a:avLst/>
          </a:prstGeom>
          <a:noFill/>
          <a:ln/>
        </p:spPr>
        <p:txBody>
          <a:bodyPr wrap="square" lIns="0" tIns="0" rIns="0" bIns="0" rtlCol="0" anchor="ctr"/>
          <a:lstStyle/>
          <a:p>
            <a:pPr indent="0" marL="0">
              <a:buNone/>
            </a:pPr>
            <a:r>
              <a:rPr lang="en-US" sz="1800" b="1" dirty="0">
                <a:solidFill>
                  <a:srgbClr val="285D4D"/>
                </a:solidFill>
                <a:latin typeface="Arial" pitchFamily="34" charset="0"/>
                <a:ea typeface="Arial" pitchFamily="34" charset="-122"/>
                <a:cs typeface="Arial" pitchFamily="34" charset="-120"/>
              </a:rPr>
              <a:t>Update pickup + drop-off</a:t>
            </a:r>
            <a:endParaRPr lang="en-US" sz="1800" dirty="0"/>
          </a:p>
        </p:txBody>
      </p:sp>
      <p:sp>
        <p:nvSpPr>
          <p:cNvPr id="15" name="Text 11"/>
          <p:cNvSpPr/>
          <p:nvPr/>
        </p:nvSpPr>
        <p:spPr>
          <a:xfrm>
            <a:off x="594360" y="6318504"/>
            <a:ext cx="731520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ACTUAL PROTOTYPE · SYNTHETIC DEMO DATA</a:t>
            </a:r>
            <a:endParaRPr lang="en-US" sz="1000" dirty="0"/>
          </a:p>
        </p:txBody>
      </p:sp>
      <p:sp>
        <p:nvSpPr>
          <p:cNvPr id="16" name="Text 12"/>
          <p:cNvSpPr/>
          <p:nvPr/>
        </p:nvSpPr>
        <p:spPr>
          <a:xfrm>
            <a:off x="594360" y="5696712"/>
            <a:ext cx="2487168" cy="530352"/>
          </a:xfrm>
          <a:prstGeom prst="rect">
            <a:avLst/>
          </a:prstGeom>
          <a:noFill/>
          <a:ln/>
        </p:spPr>
        <p:txBody>
          <a:bodyPr wrap="square" lIns="0" tIns="0" rIns="0" bIns="0" rtlCol="0" anchor="ctr"/>
          <a:lstStyle/>
          <a:p>
            <a:pPr indent="0" marL="0">
              <a:buNone/>
            </a:pPr>
            <a:r>
              <a:rPr lang="en-US" sz="1700" dirty="0">
                <a:solidFill>
                  <a:srgbClr val="285D4D"/>
                </a:solidFill>
                <a:latin typeface="Georgia" pitchFamily="34" charset="0"/>
                <a:ea typeface="Georgia" pitchFamily="34" charset="-122"/>
                <a:cs typeface="Georgia" pitchFamily="34" charset="-120"/>
              </a:rPr>
              <a:t>A little kindness travels a long way.</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07  /  10</a:t>
            </a:r>
            <a:endParaRPr lang="en-US" sz="1000" dirty="0"/>
          </a:p>
        </p:txBody>
      </p:sp>
      <p:sp>
        <p:nvSpPr>
          <p:cNvPr id="6" name="Text 3"/>
          <p:cNvSpPr/>
          <p:nvPr/>
        </p:nvSpPr>
        <p:spPr>
          <a:xfrm>
            <a:off x="548640" y="950976"/>
            <a:ext cx="10972800" cy="27432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DIGNITY AND ACCOUNTABILITY</a:t>
            </a:r>
            <a:endParaRPr lang="en-US" sz="1100" dirty="0"/>
          </a:p>
        </p:txBody>
      </p:sp>
      <p:sp>
        <p:nvSpPr>
          <p:cNvPr id="7" name="Text 4"/>
          <p:cNvSpPr/>
          <p:nvPr/>
        </p:nvSpPr>
        <p:spPr>
          <a:xfrm>
            <a:off x="548640" y="1426464"/>
            <a:ext cx="10972800" cy="1243584"/>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Build trust</a:t>
            </a:r>
            <a:endParaRPr lang="en-US" sz="3800" dirty="0"/>
          </a:p>
          <a:p>
            <a:pPr indent="0" marL="0">
              <a:buNone/>
            </a:pPr>
            <a:r>
              <a:rPr lang="en-US" sz="3800" dirty="0">
                <a:solidFill>
                  <a:srgbClr val="20302B"/>
                </a:solidFill>
                <a:latin typeface="Georgia" pitchFamily="34" charset="0"/>
                <a:ea typeface="Georgia" pitchFamily="34" charset="-122"/>
                <a:cs typeface="Georgia" pitchFamily="34" charset="-120"/>
              </a:rPr>
              <a:t>into the journey.</a:t>
            </a:r>
            <a:endParaRPr lang="en-US" sz="3800" dirty="0"/>
          </a:p>
        </p:txBody>
      </p:sp>
      <p:sp>
        <p:nvSpPr>
          <p:cNvPr id="8" name="Shape 5"/>
          <p:cNvSpPr/>
          <p:nvPr/>
        </p:nvSpPr>
        <p:spPr>
          <a:xfrm>
            <a:off x="548640"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9" name="Text 6"/>
          <p:cNvSpPr/>
          <p:nvPr/>
        </p:nvSpPr>
        <p:spPr>
          <a:xfrm>
            <a:off x="777240"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01</a:t>
            </a:r>
            <a:endParaRPr lang="en-US" sz="1800" dirty="0"/>
          </a:p>
        </p:txBody>
      </p:sp>
      <p:sp>
        <p:nvSpPr>
          <p:cNvPr id="10" name="Text 7"/>
          <p:cNvSpPr/>
          <p:nvPr/>
        </p:nvSpPr>
        <p:spPr>
          <a:xfrm>
            <a:off x="777240"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Accountable approval</a:t>
            </a:r>
            <a:endParaRPr lang="en-US" sz="2300" dirty="0"/>
          </a:p>
        </p:txBody>
      </p:sp>
      <p:sp>
        <p:nvSpPr>
          <p:cNvPr id="11" name="Text 8"/>
          <p:cNvSpPr/>
          <p:nvPr/>
        </p:nvSpPr>
        <p:spPr>
          <a:xfrm>
            <a:off x="777240"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Each organization approves drivers for its rides.</a:t>
            </a:r>
            <a:endParaRPr lang="en-US" sz="1800" dirty="0"/>
          </a:p>
        </p:txBody>
      </p:sp>
      <p:sp>
        <p:nvSpPr>
          <p:cNvPr id="12" name="Shape 9"/>
          <p:cNvSpPr/>
          <p:nvPr/>
        </p:nvSpPr>
        <p:spPr>
          <a:xfrm>
            <a:off x="4325112"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3" name="Text 10"/>
          <p:cNvSpPr/>
          <p:nvPr/>
        </p:nvSpPr>
        <p:spPr>
          <a:xfrm>
            <a:off x="4553712"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02</a:t>
            </a:r>
            <a:endParaRPr lang="en-US" sz="1800" dirty="0"/>
          </a:p>
        </p:txBody>
      </p:sp>
      <p:sp>
        <p:nvSpPr>
          <p:cNvPr id="14" name="Text 11"/>
          <p:cNvSpPr/>
          <p:nvPr/>
        </p:nvSpPr>
        <p:spPr>
          <a:xfrm>
            <a:off x="4553712"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Human support</a:t>
            </a:r>
            <a:endParaRPr lang="en-US" sz="2300" dirty="0"/>
          </a:p>
        </p:txBody>
      </p:sp>
      <p:sp>
        <p:nvSpPr>
          <p:cNvPr id="15" name="Text 12"/>
          <p:cNvSpPr/>
          <p:nvPr/>
        </p:nvSpPr>
        <p:spPr>
          <a:xfrm>
            <a:off x="4553712"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Staff arrange rides and communications for clients.</a:t>
            </a:r>
            <a:endParaRPr lang="en-US" sz="1800" dirty="0"/>
          </a:p>
        </p:txBody>
      </p:sp>
      <p:sp>
        <p:nvSpPr>
          <p:cNvPr id="16" name="Shape 13"/>
          <p:cNvSpPr/>
          <p:nvPr/>
        </p:nvSpPr>
        <p:spPr>
          <a:xfrm>
            <a:off x="8101584"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7" name="Text 14"/>
          <p:cNvSpPr/>
          <p:nvPr/>
        </p:nvSpPr>
        <p:spPr>
          <a:xfrm>
            <a:off x="8330184"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03</a:t>
            </a:r>
            <a:endParaRPr lang="en-US" sz="1800" dirty="0"/>
          </a:p>
        </p:txBody>
      </p:sp>
      <p:sp>
        <p:nvSpPr>
          <p:cNvPr id="18" name="Text 15"/>
          <p:cNvSpPr/>
          <p:nvPr/>
        </p:nvSpPr>
        <p:spPr>
          <a:xfrm>
            <a:off x="8330184"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Clear expectations</a:t>
            </a:r>
            <a:endParaRPr lang="en-US" sz="2300" dirty="0"/>
          </a:p>
        </p:txBody>
      </p:sp>
      <p:sp>
        <p:nvSpPr>
          <p:cNvPr id="19" name="Text 16"/>
          <p:cNvSpPr/>
          <p:nvPr/>
        </p:nvSpPr>
        <p:spPr>
          <a:xfrm>
            <a:off x="8330184"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Planned trips, visible status, and defined destinations.</a:t>
            </a:r>
            <a:endParaRPr lang="en-US" sz="1800" dirty="0"/>
          </a:p>
        </p:txBody>
      </p:sp>
      <p:sp>
        <p:nvSpPr>
          <p:cNvPr id="20" name="Text 17"/>
          <p:cNvSpPr/>
          <p:nvPr/>
        </p:nvSpPr>
        <p:spPr>
          <a:xfrm>
            <a:off x="548640" y="5980176"/>
            <a:ext cx="10149840" cy="475488"/>
          </a:xfrm>
          <a:prstGeom prst="rect">
            <a:avLst/>
          </a:prstGeom>
          <a:noFill/>
          <a:ln/>
        </p:spPr>
        <p:txBody>
          <a:bodyPr wrap="square" lIns="0" tIns="0" rIns="0" bIns="0" rtlCol="0" anchor="ctr"/>
          <a:lstStyle/>
          <a:p>
            <a:pPr indent="0" marL="0">
              <a:buNone/>
            </a:pPr>
            <a:r>
              <a:rPr lang="en-US" sz="1600" dirty="0">
                <a:solidFill>
                  <a:srgbClr val="285D4D"/>
                </a:solidFill>
                <a:latin typeface="Georgia" pitchFamily="34" charset="0"/>
                <a:ea typeface="Georgia" pitchFamily="34" charset="-122"/>
                <a:cs typeface="Georgia" pitchFamily="34" charset="-120"/>
              </a:rPr>
              <a:t>Drivers approved by your organization.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08  /  10</a:t>
            </a:r>
            <a:endParaRPr lang="en-US" sz="1000" dirty="0"/>
          </a:p>
        </p:txBody>
      </p:sp>
      <p:sp>
        <p:nvSpPr>
          <p:cNvPr id="6" name="Text 3"/>
          <p:cNvSpPr/>
          <p:nvPr/>
        </p:nvSpPr>
        <p:spPr>
          <a:xfrm>
            <a:off x="548640" y="950976"/>
            <a:ext cx="10972800" cy="27432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PROPOSED PILOT  /  SUBJECT TO PARTNER AGREEMENT</a:t>
            </a:r>
            <a:endParaRPr lang="en-US" sz="1100" dirty="0"/>
          </a:p>
        </p:txBody>
      </p:sp>
      <p:sp>
        <p:nvSpPr>
          <p:cNvPr id="7" name="Text 4"/>
          <p:cNvSpPr/>
          <p:nvPr/>
        </p:nvSpPr>
        <p:spPr>
          <a:xfrm>
            <a:off x="548640" y="1426464"/>
            <a:ext cx="10972800" cy="1243584"/>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Start small.</a:t>
            </a:r>
            <a:endParaRPr lang="en-US" sz="3800" dirty="0"/>
          </a:p>
          <a:p>
            <a:pPr indent="0" marL="0">
              <a:buNone/>
            </a:pPr>
            <a:r>
              <a:rPr lang="en-US" sz="3800" dirty="0">
                <a:solidFill>
                  <a:srgbClr val="20302B"/>
                </a:solidFill>
                <a:latin typeface="Georgia" pitchFamily="34" charset="0"/>
                <a:ea typeface="Georgia" pitchFamily="34" charset="-122"/>
                <a:cs typeface="Georgia" pitchFamily="34" charset="-120"/>
              </a:rPr>
              <a:t>Measure what matters.</a:t>
            </a:r>
            <a:endParaRPr lang="en-US" sz="3800" dirty="0"/>
          </a:p>
        </p:txBody>
      </p:sp>
      <p:sp>
        <p:nvSpPr>
          <p:cNvPr id="8" name="Shape 5"/>
          <p:cNvSpPr/>
          <p:nvPr/>
        </p:nvSpPr>
        <p:spPr>
          <a:xfrm>
            <a:off x="548640"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9" name="Text 6"/>
          <p:cNvSpPr/>
          <p:nvPr/>
        </p:nvSpPr>
        <p:spPr>
          <a:xfrm>
            <a:off x="777240"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01</a:t>
            </a:r>
            <a:endParaRPr lang="en-US" sz="1800" dirty="0"/>
          </a:p>
        </p:txBody>
      </p:sp>
      <p:sp>
        <p:nvSpPr>
          <p:cNvPr id="10" name="Text 7"/>
          <p:cNvSpPr/>
          <p:nvPr/>
        </p:nvSpPr>
        <p:spPr>
          <a:xfrm>
            <a:off x="777240"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Prepare</a:t>
            </a:r>
            <a:endParaRPr lang="en-US" sz="2300" dirty="0"/>
          </a:p>
        </p:txBody>
      </p:sp>
      <p:sp>
        <p:nvSpPr>
          <p:cNvPr id="11" name="Text 8"/>
          <p:cNvSpPr/>
          <p:nvPr/>
        </p:nvSpPr>
        <p:spPr>
          <a:xfrm>
            <a:off x="777240"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One willing organization; named owner; approved drivers and routes.</a:t>
            </a:r>
            <a:endParaRPr lang="en-US" sz="1800" dirty="0"/>
          </a:p>
        </p:txBody>
      </p:sp>
      <p:sp>
        <p:nvSpPr>
          <p:cNvPr id="12" name="Shape 9"/>
          <p:cNvSpPr/>
          <p:nvPr/>
        </p:nvSpPr>
        <p:spPr>
          <a:xfrm>
            <a:off x="4325112"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3" name="Text 10"/>
          <p:cNvSpPr/>
          <p:nvPr/>
        </p:nvSpPr>
        <p:spPr>
          <a:xfrm>
            <a:off x="4553712"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02</a:t>
            </a:r>
            <a:endParaRPr lang="en-US" sz="1800" dirty="0"/>
          </a:p>
        </p:txBody>
      </p:sp>
      <p:sp>
        <p:nvSpPr>
          <p:cNvPr id="14" name="Text 11"/>
          <p:cNvSpPr/>
          <p:nvPr/>
        </p:nvSpPr>
        <p:spPr>
          <a:xfrm>
            <a:off x="4553712"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Run</a:t>
            </a:r>
            <a:endParaRPr lang="en-US" sz="2300" dirty="0"/>
          </a:p>
        </p:txBody>
      </p:sp>
      <p:sp>
        <p:nvSpPr>
          <p:cNvPr id="15" name="Text 12"/>
          <p:cNvSpPr/>
          <p:nvPr/>
        </p:nvSpPr>
        <p:spPr>
          <a:xfrm>
            <a:off x="4553712"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A proposed four-week pilot with staff support and a fallback plan.</a:t>
            </a:r>
            <a:endParaRPr lang="en-US" sz="1800" dirty="0"/>
          </a:p>
        </p:txBody>
      </p:sp>
      <p:sp>
        <p:nvSpPr>
          <p:cNvPr id="16" name="Shape 13"/>
          <p:cNvSpPr/>
          <p:nvPr/>
        </p:nvSpPr>
        <p:spPr>
          <a:xfrm>
            <a:off x="8101584"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7" name="Text 14"/>
          <p:cNvSpPr/>
          <p:nvPr/>
        </p:nvSpPr>
        <p:spPr>
          <a:xfrm>
            <a:off x="8330184"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03</a:t>
            </a:r>
            <a:endParaRPr lang="en-US" sz="1800" dirty="0"/>
          </a:p>
        </p:txBody>
      </p:sp>
      <p:sp>
        <p:nvSpPr>
          <p:cNvPr id="18" name="Text 15"/>
          <p:cNvSpPr/>
          <p:nvPr/>
        </p:nvSpPr>
        <p:spPr>
          <a:xfrm>
            <a:off x="8330184"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Learn</a:t>
            </a:r>
            <a:endParaRPr lang="en-US" sz="2300" dirty="0"/>
          </a:p>
        </p:txBody>
      </p:sp>
      <p:sp>
        <p:nvSpPr>
          <p:cNvPr id="19" name="Text 16"/>
          <p:cNvSpPr/>
          <p:nvPr/>
        </p:nvSpPr>
        <p:spPr>
          <a:xfrm>
            <a:off x="8330184"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Measure completion, coordination time, and client/staff feedback.</a:t>
            </a:r>
            <a:endParaRPr lang="en-US" sz="1800" dirty="0"/>
          </a:p>
        </p:txBody>
      </p:sp>
      <p:sp>
        <p:nvSpPr>
          <p:cNvPr id="20" name="Text 17"/>
          <p:cNvSpPr/>
          <p:nvPr/>
        </p:nvSpPr>
        <p:spPr>
          <a:xfrm>
            <a:off x="548640" y="5980176"/>
            <a:ext cx="10149840" cy="475488"/>
          </a:xfrm>
          <a:prstGeom prst="rect">
            <a:avLst/>
          </a:prstGeom>
          <a:noFill/>
          <a:ln/>
        </p:spPr>
        <p:txBody>
          <a:bodyPr wrap="square" lIns="0" tIns="0" rIns="0" bIns="0" rtlCol="0" anchor="ctr"/>
          <a:lstStyle/>
          <a:p>
            <a:pPr indent="0" marL="0">
              <a:buNone/>
            </a:pPr>
            <a:r>
              <a:rPr lang="en-US" sz="1600" dirty="0">
                <a:solidFill>
                  <a:srgbClr val="285D4D"/>
                </a:solidFill>
                <a:latin typeface="Georgia" pitchFamily="34" charset="0"/>
                <a:ea typeface="Georgia" pitchFamily="34" charset="-122"/>
                <a:cs typeface="Georgia" pitchFamily="34" charset="-120"/>
              </a:rPr>
              <a:t>Small steps. Stronger communities.</a:t>
            </a:r>
            <a:endParaRPr lang="en-US" sz="1600" dirty="0"/>
          </a:p>
        </p:txBody>
      </p:sp>
      <p:sp>
        <p:nvSpPr>
          <p:cNvPr id="21" name="Text 18"/>
          <p:cNvSpPr/>
          <p:nvPr/>
        </p:nvSpPr>
        <p:spPr>
          <a:xfrm>
            <a:off x="594360" y="6455664"/>
            <a:ext cx="9875520" cy="164592"/>
          </a:xfrm>
          <a:prstGeom prst="rect">
            <a:avLst/>
          </a:prstGeom>
          <a:noFill/>
          <a:ln/>
        </p:spPr>
        <p:txBody>
          <a:bodyPr wrap="square" lIns="0" tIns="0" rIns="0" bIns="0" rtlCol="0" anchor="ctr"/>
          <a:lstStyle/>
          <a:p>
            <a:pPr indent="0" marL="0">
              <a:buNone/>
            </a:pPr>
            <a:r>
              <a:rPr lang="en-US" sz="800" dirty="0">
                <a:solidFill>
                  <a:srgbClr val="66736E"/>
                </a:solidFill>
                <a:latin typeface="Arial" pitchFamily="34" charset="0"/>
                <a:ea typeface="Arial" pitchFamily="34" charset="-122"/>
                <a:cs typeface="Arial" pitchFamily="34" charset="-120"/>
              </a:rPr>
              <a:t>Proposed scope; no measured outcomes or confirmed pilot.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20302B"/>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66736E"/>
                </a:solidFill>
                <a:latin typeface="Arial" pitchFamily="34" charset="0"/>
                <a:ea typeface="Arial" pitchFamily="34" charset="-122"/>
                <a:cs typeface="Arial" pitchFamily="34" charset="-120"/>
              </a:rPr>
              <a:t>09  /  10</a:t>
            </a:r>
            <a:endParaRPr lang="en-US" sz="1000" dirty="0"/>
          </a:p>
        </p:txBody>
      </p:sp>
      <p:sp>
        <p:nvSpPr>
          <p:cNvPr id="6" name="Text 3"/>
          <p:cNvSpPr/>
          <p:nvPr/>
        </p:nvSpPr>
        <p:spPr>
          <a:xfrm>
            <a:off x="548640" y="950976"/>
            <a:ext cx="10972800" cy="274320"/>
          </a:xfrm>
          <a:prstGeom prst="rect">
            <a:avLst/>
          </a:prstGeom>
          <a:noFill/>
          <a:ln/>
        </p:spPr>
        <p:txBody>
          <a:bodyPr wrap="square" lIns="0" tIns="0" rIns="0" bIns="0" rtlCol="0" anchor="ctr"/>
          <a:lstStyle/>
          <a:p>
            <a:pPr indent="0" marL="0">
              <a:buNone/>
            </a:pPr>
            <a:r>
              <a:rPr lang="en-US" sz="1100" b="1" dirty="0">
                <a:solidFill>
                  <a:srgbClr val="285D4D"/>
                </a:solidFill>
                <a:latin typeface="Arial" pitchFamily="34" charset="0"/>
                <a:ea typeface="Arial" pitchFamily="34" charset="-122"/>
                <a:cs typeface="Arial" pitchFamily="34" charset="-120"/>
              </a:rPr>
              <a:t>BUILT FOR FAITHTECH’S MISSION</a:t>
            </a:r>
            <a:endParaRPr lang="en-US" sz="1100" dirty="0"/>
          </a:p>
        </p:txBody>
      </p:sp>
      <p:sp>
        <p:nvSpPr>
          <p:cNvPr id="7" name="Text 4"/>
          <p:cNvSpPr/>
          <p:nvPr/>
        </p:nvSpPr>
        <p:spPr>
          <a:xfrm>
            <a:off x="548640" y="1426464"/>
            <a:ext cx="10972800" cy="1243584"/>
          </a:xfrm>
          <a:prstGeom prst="rect">
            <a:avLst/>
          </a:prstGeom>
          <a:noFill/>
          <a:ln/>
        </p:spPr>
        <p:txBody>
          <a:bodyPr wrap="square" lIns="0" tIns="0" rIns="0" bIns="0" rtlCol="0" anchor="ctr"/>
          <a:lstStyle/>
          <a:p>
            <a:pPr indent="0" marL="0">
              <a:buNone/>
            </a:pPr>
            <a:r>
              <a:rPr lang="en-US" sz="3800" dirty="0">
                <a:solidFill>
                  <a:srgbClr val="20302B"/>
                </a:solidFill>
                <a:latin typeface="Georgia" pitchFamily="34" charset="0"/>
                <a:ea typeface="Georgia" pitchFamily="34" charset="-122"/>
                <a:cs typeface="Georgia" pitchFamily="34" charset="-120"/>
              </a:rPr>
              <a:t>Excellence. Impact. Hope.</a:t>
            </a:r>
            <a:endParaRPr lang="en-US" sz="3800" dirty="0"/>
          </a:p>
        </p:txBody>
      </p:sp>
      <p:sp>
        <p:nvSpPr>
          <p:cNvPr id="8" name="Shape 5"/>
          <p:cNvSpPr/>
          <p:nvPr/>
        </p:nvSpPr>
        <p:spPr>
          <a:xfrm>
            <a:off x="548640"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9" name="Text 6"/>
          <p:cNvSpPr/>
          <p:nvPr/>
        </p:nvSpPr>
        <p:spPr>
          <a:xfrm>
            <a:off x="777240"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01</a:t>
            </a:r>
            <a:endParaRPr lang="en-US" sz="1800" dirty="0"/>
          </a:p>
        </p:txBody>
      </p:sp>
      <p:sp>
        <p:nvSpPr>
          <p:cNvPr id="10" name="Text 7"/>
          <p:cNvSpPr/>
          <p:nvPr/>
        </p:nvSpPr>
        <p:spPr>
          <a:xfrm>
            <a:off x="777240"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Excellence</a:t>
            </a:r>
            <a:endParaRPr lang="en-US" sz="2300" dirty="0"/>
          </a:p>
        </p:txBody>
      </p:sp>
      <p:sp>
        <p:nvSpPr>
          <p:cNvPr id="11" name="Text 8"/>
          <p:cNvSpPr/>
          <p:nvPr/>
        </p:nvSpPr>
        <p:spPr>
          <a:xfrm>
            <a:off x="777240"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Clear, thoughtful tools for the people doing the work.</a:t>
            </a:r>
            <a:endParaRPr lang="en-US" sz="1800" dirty="0"/>
          </a:p>
        </p:txBody>
      </p:sp>
      <p:sp>
        <p:nvSpPr>
          <p:cNvPr id="12" name="Shape 9"/>
          <p:cNvSpPr/>
          <p:nvPr/>
        </p:nvSpPr>
        <p:spPr>
          <a:xfrm>
            <a:off x="4325112"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3" name="Text 10"/>
          <p:cNvSpPr/>
          <p:nvPr/>
        </p:nvSpPr>
        <p:spPr>
          <a:xfrm>
            <a:off x="4553712"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02</a:t>
            </a:r>
            <a:endParaRPr lang="en-US" sz="1800" dirty="0"/>
          </a:p>
        </p:txBody>
      </p:sp>
      <p:sp>
        <p:nvSpPr>
          <p:cNvPr id="14" name="Text 11"/>
          <p:cNvSpPr/>
          <p:nvPr/>
        </p:nvSpPr>
        <p:spPr>
          <a:xfrm>
            <a:off x="4553712"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Impact</a:t>
            </a:r>
            <a:endParaRPr lang="en-US" sz="2300" dirty="0"/>
          </a:p>
        </p:txBody>
      </p:sp>
      <p:sp>
        <p:nvSpPr>
          <p:cNvPr id="15" name="Text 12"/>
          <p:cNvSpPr/>
          <p:nvPr/>
        </p:nvSpPr>
        <p:spPr>
          <a:xfrm>
            <a:off x="4553712"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Reduce friction between a neighbour and essential care.</a:t>
            </a:r>
            <a:endParaRPr lang="en-US" sz="1800" dirty="0"/>
          </a:p>
        </p:txBody>
      </p:sp>
      <p:sp>
        <p:nvSpPr>
          <p:cNvPr id="16" name="Shape 13"/>
          <p:cNvSpPr/>
          <p:nvPr/>
        </p:nvSpPr>
        <p:spPr>
          <a:xfrm>
            <a:off x="8101584" y="3063240"/>
            <a:ext cx="3547872" cy="2231136"/>
          </a:xfrm>
          <a:prstGeom prst="roundRect">
            <a:avLst>
              <a:gd name="adj" fmla="val 6148"/>
            </a:avLst>
          </a:prstGeom>
          <a:solidFill>
            <a:srgbClr val="FFFFFF"/>
          </a:solidFill>
          <a:ln w="12700">
            <a:solidFill>
              <a:srgbClr val="FFFFFF">
                <a:alpha val="0"/>
              </a:srgbClr>
            </a:solidFill>
            <a:prstDash val="solid"/>
          </a:ln>
        </p:spPr>
      </p:sp>
      <p:sp>
        <p:nvSpPr>
          <p:cNvPr id="17" name="Text 14"/>
          <p:cNvSpPr/>
          <p:nvPr/>
        </p:nvSpPr>
        <p:spPr>
          <a:xfrm>
            <a:off x="8330184" y="3273552"/>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03</a:t>
            </a:r>
            <a:endParaRPr lang="en-US" sz="1800" dirty="0"/>
          </a:p>
        </p:txBody>
      </p:sp>
      <p:sp>
        <p:nvSpPr>
          <p:cNvPr id="18" name="Text 15"/>
          <p:cNvSpPr/>
          <p:nvPr/>
        </p:nvSpPr>
        <p:spPr>
          <a:xfrm>
            <a:off x="8330184" y="3803904"/>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Hope</a:t>
            </a:r>
            <a:endParaRPr lang="en-US" sz="2300" dirty="0"/>
          </a:p>
        </p:txBody>
      </p:sp>
      <p:sp>
        <p:nvSpPr>
          <p:cNvPr id="19" name="Text 16"/>
          <p:cNvSpPr/>
          <p:nvPr/>
        </p:nvSpPr>
        <p:spPr>
          <a:xfrm>
            <a:off x="8330184" y="4370832"/>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Turn a willingness to help into a practical next step.</a:t>
            </a:r>
            <a:endParaRPr lang="en-US" sz="1800" dirty="0"/>
          </a:p>
        </p:txBody>
      </p:sp>
      <p:sp>
        <p:nvSpPr>
          <p:cNvPr id="20" name="Text 17"/>
          <p:cNvSpPr/>
          <p:nvPr/>
        </p:nvSpPr>
        <p:spPr>
          <a:xfrm>
            <a:off x="548640" y="5980176"/>
            <a:ext cx="10149840" cy="475488"/>
          </a:xfrm>
          <a:prstGeom prst="rect">
            <a:avLst/>
          </a:prstGeom>
          <a:noFill/>
          <a:ln/>
        </p:spPr>
        <p:txBody>
          <a:bodyPr wrap="square" lIns="0" tIns="0" rIns="0" bIns="0" rtlCol="0" anchor="ctr"/>
          <a:lstStyle/>
          <a:p>
            <a:pPr indent="0" marL="0">
              <a:buNone/>
            </a:pPr>
            <a:r>
              <a:rPr lang="en-US" sz="1600" dirty="0">
                <a:solidFill>
                  <a:srgbClr val="285D4D"/>
                </a:solidFill>
                <a:latin typeface="Georgia" pitchFamily="34" charset="0"/>
                <a:ea typeface="Georgia" pitchFamily="34" charset="-122"/>
                <a:cs typeface="Georgia" pitchFamily="34" charset="-120"/>
              </a:rPr>
              <a:t>Bring your community.</a:t>
            </a:r>
            <a:endParaRPr lang="en-US" sz="1600" dirty="0"/>
          </a:p>
        </p:txBody>
      </p:sp>
      <p:sp>
        <p:nvSpPr>
          <p:cNvPr id="21" name="Text 18"/>
          <p:cNvSpPr/>
          <p:nvPr/>
        </p:nvSpPr>
        <p:spPr>
          <a:xfrm>
            <a:off x="594360" y="6455664"/>
            <a:ext cx="9875520" cy="164592"/>
          </a:xfrm>
          <a:prstGeom prst="rect">
            <a:avLst/>
          </a:prstGeom>
          <a:noFill/>
          <a:ln/>
        </p:spPr>
        <p:txBody>
          <a:bodyPr wrap="square" lIns="0" tIns="0" rIns="0" bIns="0" rtlCol="0" anchor="ctr"/>
          <a:lstStyle/>
          <a:p>
            <a:pPr indent="0" marL="0">
              <a:buNone/>
            </a:pPr>
            <a:r>
              <a:rPr lang="en-US" sz="800" dirty="0">
                <a:solidFill>
                  <a:srgbClr val="66736E"/>
                </a:solidFill>
                <a:latin typeface="Arial" pitchFamily="34" charset="0"/>
                <a:ea typeface="Arial" pitchFamily="34" charset="-122"/>
                <a:cs typeface="Arial" pitchFamily="34" charset="-120"/>
              </a:rPr>
              <a:t>Host values: https://luma.com/faithtech-hack2026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85D4D"/>
        </a:solidFill>
      </p:bgPr>
    </p:bg>
    <p:spTree>
      <p:nvGrpSpPr>
        <p:cNvPr id="1" name=""/>
        <p:cNvGrpSpPr/>
        <p:nvPr/>
      </p:nvGrpSpPr>
      <p:grpSpPr>
        <a:xfrm>
          <a:off x="0" y="0"/>
          <a:ext cx="0" cy="0"/>
          <a:chOff x="0" y="0"/>
          <a:chExt cx="0" cy="0"/>
        </a:xfrm>
      </p:grpSpPr>
      <p:pic>
        <p:nvPicPr>
          <p:cNvPr id="2" name="Image 0" descr="/Users/kentonbell/Documents/GitHub/CareRide-Team-2/output/presentation/assets/logo.png">    </p:cNvPr>
          <p:cNvPicPr>
            <a:picLocks noChangeAspect="1"/>
          </p:cNvPicPr>
          <p:nvPr/>
        </p:nvPicPr>
        <p:blipFill>
          <a:blip r:embed="rId1"/>
          <a:stretch>
            <a:fillRect/>
          </a:stretch>
        </p:blipFill>
        <p:spPr>
          <a:xfrm>
            <a:off x="502920" y="320040"/>
            <a:ext cx="384048" cy="384048"/>
          </a:xfrm>
          <a:prstGeom prst="rect">
            <a:avLst/>
          </a:prstGeom>
        </p:spPr>
      </p:pic>
      <p:sp>
        <p:nvSpPr>
          <p:cNvPr id="3" name="Text 0"/>
          <p:cNvSpPr/>
          <p:nvPr/>
        </p:nvSpPr>
        <p:spPr>
          <a:xfrm>
            <a:off x="978408" y="356616"/>
            <a:ext cx="1828800" cy="29260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CareRide.</a:t>
            </a:r>
            <a:endParaRPr lang="en-US" sz="1800" dirty="0"/>
          </a:p>
        </p:txBody>
      </p:sp>
      <p:sp>
        <p:nvSpPr>
          <p:cNvPr id="4" name="Text 1"/>
          <p:cNvSpPr/>
          <p:nvPr/>
        </p:nvSpPr>
        <p:spPr>
          <a:xfrm>
            <a:off x="8732520" y="384048"/>
            <a:ext cx="2926080" cy="228600"/>
          </a:xfrm>
          <a:prstGeom prst="rect">
            <a:avLst/>
          </a:prstGeom>
          <a:noFill/>
          <a:ln/>
        </p:spPr>
        <p:txBody>
          <a:bodyPr wrap="square" lIns="0" tIns="0" rIns="0" bIns="0" rtlCol="0" anchor="ctr"/>
          <a:lstStyle/>
          <a:p>
            <a:pPr indent="0" marL="0">
              <a:buNone/>
            </a:pPr>
            <a:r>
              <a:rPr lang="en-US" sz="1000" dirty="0">
                <a:solidFill>
                  <a:srgbClr val="E8F3ED"/>
                </a:solidFill>
                <a:latin typeface="Arial" pitchFamily="34" charset="0"/>
                <a:ea typeface="Arial" pitchFamily="34" charset="-122"/>
                <a:cs typeface="Arial" pitchFamily="34" charset="-120"/>
              </a:rPr>
              <a:t>TEAM 2  ·  HACKVAN2026</a:t>
            </a:r>
            <a:endParaRPr lang="en-US" sz="1000" dirty="0"/>
          </a:p>
        </p:txBody>
      </p:sp>
      <p:sp>
        <p:nvSpPr>
          <p:cNvPr id="5" name="Text 2"/>
          <p:cNvSpPr/>
          <p:nvPr/>
        </p:nvSpPr>
        <p:spPr>
          <a:xfrm>
            <a:off x="10881360" y="6428232"/>
            <a:ext cx="777240" cy="182880"/>
          </a:xfrm>
          <a:prstGeom prst="rect">
            <a:avLst/>
          </a:prstGeom>
          <a:noFill/>
          <a:ln/>
        </p:spPr>
        <p:txBody>
          <a:bodyPr wrap="square" lIns="0" tIns="0" rIns="0" bIns="0" rtlCol="0" anchor="ctr"/>
          <a:lstStyle/>
          <a:p>
            <a:pPr indent="0" marL="0">
              <a:buNone/>
            </a:pPr>
            <a:r>
              <a:rPr lang="en-US" sz="1000" dirty="0">
                <a:solidFill>
                  <a:srgbClr val="E8F3ED"/>
                </a:solidFill>
                <a:latin typeface="Arial" pitchFamily="34" charset="0"/>
                <a:ea typeface="Arial" pitchFamily="34" charset="-122"/>
                <a:cs typeface="Arial" pitchFamily="34" charset="-120"/>
              </a:rPr>
              <a:t>10  /  10</a:t>
            </a:r>
            <a:endParaRPr lang="en-US" sz="1000" dirty="0"/>
          </a:p>
        </p:txBody>
      </p:sp>
      <p:sp>
        <p:nvSpPr>
          <p:cNvPr id="6" name="Text 3"/>
          <p:cNvSpPr/>
          <p:nvPr/>
        </p:nvSpPr>
        <p:spPr>
          <a:xfrm>
            <a:off x="594360" y="1024128"/>
            <a:ext cx="10972800" cy="320040"/>
          </a:xfrm>
          <a:prstGeom prst="rect">
            <a:avLst/>
          </a:prstGeom>
          <a:noFill/>
          <a:ln/>
        </p:spPr>
        <p:txBody>
          <a:bodyPr wrap="square" lIns="0" tIns="0" rIns="0" bIns="0" rtlCol="0" anchor="ctr"/>
          <a:lstStyle/>
          <a:p>
            <a:pPr indent="0" marL="0">
              <a:buNone/>
            </a:pPr>
            <a:r>
              <a:rPr lang="en-US" sz="1200" b="1" dirty="0">
                <a:solidFill>
                  <a:srgbClr val="E8F3ED"/>
                </a:solidFill>
                <a:latin typeface="Arial" pitchFamily="34" charset="0"/>
                <a:ea typeface="Arial" pitchFamily="34" charset="-122"/>
                <a:cs typeface="Arial" pitchFamily="34" charset="-120"/>
              </a:rPr>
              <a:t>THE INVITATION</a:t>
            </a:r>
            <a:endParaRPr lang="en-US" sz="1200" dirty="0"/>
          </a:p>
        </p:txBody>
      </p:sp>
      <p:sp>
        <p:nvSpPr>
          <p:cNvPr id="7" name="Text 4"/>
          <p:cNvSpPr/>
          <p:nvPr/>
        </p:nvSpPr>
        <p:spPr>
          <a:xfrm>
            <a:off x="594360" y="1618488"/>
            <a:ext cx="10972800" cy="1426464"/>
          </a:xfrm>
          <a:prstGeom prst="rect">
            <a:avLst/>
          </a:prstGeom>
          <a:noFill/>
          <a:ln/>
        </p:spPr>
        <p:txBody>
          <a:bodyPr wrap="square" lIns="0" tIns="0" rIns="0" bIns="0" rtlCol="0" anchor="ctr"/>
          <a:lstStyle/>
          <a:p>
            <a:pPr indent="0" marL="0">
              <a:buNone/>
            </a:pPr>
            <a:r>
              <a:rPr lang="en-US" sz="4600" dirty="0">
                <a:solidFill>
                  <a:srgbClr val="FFFFFF"/>
                </a:solidFill>
                <a:latin typeface="Georgia" pitchFamily="34" charset="0"/>
                <a:ea typeface="Georgia" pitchFamily="34" charset="-122"/>
                <a:cs typeface="Georgia" pitchFamily="34" charset="-120"/>
              </a:rPr>
              <a:t>Help us make</a:t>
            </a:r>
            <a:endParaRPr lang="en-US" sz="4600" dirty="0"/>
          </a:p>
          <a:p>
            <a:pPr indent="0" marL="0">
              <a:buNone/>
            </a:pPr>
            <a:r>
              <a:rPr lang="en-US" sz="4600" dirty="0">
                <a:solidFill>
                  <a:srgbClr val="FFFFFF"/>
                </a:solidFill>
                <a:latin typeface="Georgia" pitchFamily="34" charset="0"/>
                <a:ea typeface="Georgia" pitchFamily="34" charset="-122"/>
                <a:cs typeface="Georgia" pitchFamily="34" charset="-120"/>
              </a:rPr>
              <a:t>a way forward.</a:t>
            </a:r>
            <a:endParaRPr lang="en-US" sz="4600" dirty="0"/>
          </a:p>
        </p:txBody>
      </p:sp>
      <p:sp>
        <p:nvSpPr>
          <p:cNvPr id="8" name="Shape 5"/>
          <p:cNvSpPr/>
          <p:nvPr/>
        </p:nvSpPr>
        <p:spPr>
          <a:xfrm>
            <a:off x="548640" y="3401568"/>
            <a:ext cx="3547872" cy="2231136"/>
          </a:xfrm>
          <a:prstGeom prst="roundRect">
            <a:avLst>
              <a:gd name="adj" fmla="val 6148"/>
            </a:avLst>
          </a:prstGeom>
          <a:solidFill>
            <a:srgbClr val="FFFFFF"/>
          </a:solidFill>
          <a:ln w="12700">
            <a:solidFill>
              <a:srgbClr val="FFFFFF">
                <a:alpha val="0"/>
              </a:srgbClr>
            </a:solidFill>
            <a:prstDash val="solid"/>
          </a:ln>
        </p:spPr>
      </p:sp>
      <p:sp>
        <p:nvSpPr>
          <p:cNvPr id="9" name="Text 6"/>
          <p:cNvSpPr/>
          <p:nvPr/>
        </p:nvSpPr>
        <p:spPr>
          <a:xfrm>
            <a:off x="777240" y="3611880"/>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01</a:t>
            </a:r>
            <a:endParaRPr lang="en-US" sz="1800" dirty="0"/>
          </a:p>
        </p:txBody>
      </p:sp>
      <p:sp>
        <p:nvSpPr>
          <p:cNvPr id="10" name="Text 7"/>
          <p:cNvSpPr/>
          <p:nvPr/>
        </p:nvSpPr>
        <p:spPr>
          <a:xfrm>
            <a:off x="777240" y="4142232"/>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Pilot with us</a:t>
            </a:r>
            <a:endParaRPr lang="en-US" sz="2300" dirty="0"/>
          </a:p>
        </p:txBody>
      </p:sp>
      <p:sp>
        <p:nvSpPr>
          <p:cNvPr id="11" name="Text 8"/>
          <p:cNvSpPr/>
          <p:nvPr/>
        </p:nvSpPr>
        <p:spPr>
          <a:xfrm>
            <a:off x="777240" y="4709160"/>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A willing service organization and an operational lead.</a:t>
            </a:r>
            <a:endParaRPr lang="en-US" sz="1800" dirty="0"/>
          </a:p>
        </p:txBody>
      </p:sp>
      <p:sp>
        <p:nvSpPr>
          <p:cNvPr id="12" name="Shape 9"/>
          <p:cNvSpPr/>
          <p:nvPr/>
        </p:nvSpPr>
        <p:spPr>
          <a:xfrm>
            <a:off x="4325112" y="3401568"/>
            <a:ext cx="3547872" cy="2231136"/>
          </a:xfrm>
          <a:prstGeom prst="roundRect">
            <a:avLst>
              <a:gd name="adj" fmla="val 6148"/>
            </a:avLst>
          </a:prstGeom>
          <a:solidFill>
            <a:srgbClr val="FFFFFF"/>
          </a:solidFill>
          <a:ln w="12700">
            <a:solidFill>
              <a:srgbClr val="FFFFFF">
                <a:alpha val="0"/>
              </a:srgbClr>
            </a:solidFill>
            <a:prstDash val="solid"/>
          </a:ln>
        </p:spPr>
      </p:sp>
      <p:sp>
        <p:nvSpPr>
          <p:cNvPr id="13" name="Text 10"/>
          <p:cNvSpPr/>
          <p:nvPr/>
        </p:nvSpPr>
        <p:spPr>
          <a:xfrm>
            <a:off x="4553712" y="3611880"/>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02</a:t>
            </a:r>
            <a:endParaRPr lang="en-US" sz="1800" dirty="0"/>
          </a:p>
        </p:txBody>
      </p:sp>
      <p:sp>
        <p:nvSpPr>
          <p:cNvPr id="14" name="Text 11"/>
          <p:cNvSpPr/>
          <p:nvPr/>
        </p:nvSpPr>
        <p:spPr>
          <a:xfrm>
            <a:off x="4553712" y="4142232"/>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Drive with us</a:t>
            </a:r>
            <a:endParaRPr lang="en-US" sz="2300" dirty="0"/>
          </a:p>
        </p:txBody>
      </p:sp>
      <p:sp>
        <p:nvSpPr>
          <p:cNvPr id="15" name="Text 12"/>
          <p:cNvSpPr/>
          <p:nvPr/>
        </p:nvSpPr>
        <p:spPr>
          <a:xfrm>
            <a:off x="4553712" y="4709160"/>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Volunteers ready to follow agreed approval procedures.</a:t>
            </a:r>
            <a:endParaRPr lang="en-US" sz="1800" dirty="0"/>
          </a:p>
        </p:txBody>
      </p:sp>
      <p:sp>
        <p:nvSpPr>
          <p:cNvPr id="16" name="Shape 13"/>
          <p:cNvSpPr/>
          <p:nvPr/>
        </p:nvSpPr>
        <p:spPr>
          <a:xfrm>
            <a:off x="8101584" y="3401568"/>
            <a:ext cx="3547872" cy="2231136"/>
          </a:xfrm>
          <a:prstGeom prst="roundRect">
            <a:avLst>
              <a:gd name="adj" fmla="val 6148"/>
            </a:avLst>
          </a:prstGeom>
          <a:solidFill>
            <a:srgbClr val="FFFFFF"/>
          </a:solidFill>
          <a:ln w="12700">
            <a:solidFill>
              <a:srgbClr val="FFFFFF">
                <a:alpha val="0"/>
              </a:srgbClr>
            </a:solidFill>
            <a:prstDash val="solid"/>
          </a:ln>
        </p:spPr>
      </p:sp>
      <p:sp>
        <p:nvSpPr>
          <p:cNvPr id="17" name="Text 14"/>
          <p:cNvSpPr/>
          <p:nvPr/>
        </p:nvSpPr>
        <p:spPr>
          <a:xfrm>
            <a:off x="8330184" y="3611880"/>
            <a:ext cx="914400" cy="320040"/>
          </a:xfrm>
          <a:prstGeom prst="rect">
            <a:avLst/>
          </a:prstGeom>
          <a:noFill/>
          <a:ln/>
        </p:spPr>
        <p:txBody>
          <a:bodyPr wrap="square" lIns="0" tIns="0" rIns="0" bIns="0" rtlCol="0" anchor="ctr"/>
          <a:lstStyle/>
          <a:p>
            <a:pPr indent="0" marL="0">
              <a:buNone/>
            </a:pPr>
            <a:r>
              <a:rPr lang="en-US" sz="1800" b="1" dirty="0">
                <a:solidFill>
                  <a:srgbClr val="D99A52"/>
                </a:solidFill>
                <a:latin typeface="Arial" pitchFamily="34" charset="0"/>
                <a:ea typeface="Arial" pitchFamily="34" charset="-122"/>
                <a:cs typeface="Arial" pitchFamily="34" charset="-120"/>
              </a:rPr>
              <a:t>03</a:t>
            </a:r>
            <a:endParaRPr lang="en-US" sz="1800" dirty="0"/>
          </a:p>
        </p:txBody>
      </p:sp>
      <p:sp>
        <p:nvSpPr>
          <p:cNvPr id="18" name="Text 15"/>
          <p:cNvSpPr/>
          <p:nvPr/>
        </p:nvSpPr>
        <p:spPr>
          <a:xfrm>
            <a:off x="8330184" y="4142232"/>
            <a:ext cx="3090672" cy="475488"/>
          </a:xfrm>
          <a:prstGeom prst="rect">
            <a:avLst/>
          </a:prstGeom>
          <a:noFill/>
          <a:ln/>
        </p:spPr>
        <p:txBody>
          <a:bodyPr wrap="square" lIns="0" tIns="0" rIns="0" bIns="0" rtlCol="0" anchor="ctr"/>
          <a:lstStyle/>
          <a:p>
            <a:pPr indent="0" marL="0">
              <a:buNone/>
            </a:pPr>
            <a:r>
              <a:rPr lang="en-US" sz="2300" b="1" dirty="0">
                <a:solidFill>
                  <a:srgbClr val="285D4D"/>
                </a:solidFill>
                <a:latin typeface="Arial" pitchFamily="34" charset="0"/>
                <a:ea typeface="Arial" pitchFamily="34" charset="-122"/>
                <a:cs typeface="Arial" pitchFamily="34" charset="-120"/>
              </a:rPr>
              <a:t>Build with us</a:t>
            </a:r>
            <a:endParaRPr lang="en-US" sz="2300" dirty="0"/>
          </a:p>
        </p:txBody>
      </p:sp>
      <p:sp>
        <p:nvSpPr>
          <p:cNvPr id="19" name="Text 16"/>
          <p:cNvSpPr/>
          <p:nvPr/>
        </p:nvSpPr>
        <p:spPr>
          <a:xfrm>
            <a:off x="8330184" y="4709160"/>
            <a:ext cx="3044952" cy="658368"/>
          </a:xfrm>
          <a:prstGeom prst="rect">
            <a:avLst/>
          </a:prstGeom>
          <a:noFill/>
          <a:ln/>
        </p:spPr>
        <p:txBody>
          <a:bodyPr wrap="square" lIns="0" tIns="0" rIns="0" bIns="0" rtlCol="0" anchor="ctr"/>
          <a:lstStyle/>
          <a:p>
            <a:pPr indent="0" marL="0">
              <a:buNone/>
            </a:pPr>
            <a:r>
              <a:rPr lang="en-US" sz="1800" dirty="0">
                <a:solidFill>
                  <a:srgbClr val="66736E"/>
                </a:solidFill>
                <a:latin typeface="Arial" pitchFamily="34" charset="0"/>
                <a:ea typeface="Arial" pitchFamily="34" charset="-122"/>
                <a:cs typeface="Arial" pitchFamily="34" charset="-120"/>
              </a:rPr>
              <a:t>FaithTech mentors and maintainers for the next phase.</a:t>
            </a:r>
            <a:endParaRPr lang="en-US" sz="1800" dirty="0"/>
          </a:p>
        </p:txBody>
      </p:sp>
      <p:sp>
        <p:nvSpPr>
          <p:cNvPr id="20" name="Text 17"/>
          <p:cNvSpPr/>
          <p:nvPr/>
        </p:nvSpPr>
        <p:spPr>
          <a:xfrm>
            <a:off x="594360" y="5897880"/>
            <a:ext cx="10515600" cy="576072"/>
          </a:xfrm>
          <a:prstGeom prst="rect">
            <a:avLst/>
          </a:prstGeom>
          <a:noFill/>
          <a:ln/>
        </p:spPr>
        <p:txBody>
          <a:bodyPr wrap="square" lIns="0" tIns="0" rIns="0" bIns="0" rtlCol="0" anchor="ctr"/>
          <a:lstStyle/>
          <a:p>
            <a:pPr indent="0" marL="0">
              <a:buNone/>
            </a:pPr>
            <a:r>
              <a:rPr lang="en-US" sz="2000" dirty="0">
                <a:solidFill>
                  <a:srgbClr val="FFFFFF"/>
                </a:solidFill>
                <a:latin typeface="Georgia" pitchFamily="34" charset="0"/>
                <a:ea typeface="Georgia" pitchFamily="34" charset="-122"/>
                <a:cs typeface="Georgia" pitchFamily="34" charset="-120"/>
              </a:rPr>
              <a:t>A little help, A way forward.</a:t>
            </a:r>
            <a:endParaRPr lang="en-US" sz="2000" dirty="0"/>
          </a:p>
          <a:p>
            <a:pPr indent="0" marL="0">
              <a:buNone/>
            </a:pPr>
            <a:r>
              <a:rPr lang="en-US" sz="2000" dirty="0">
                <a:solidFill>
                  <a:srgbClr val="FFFFFF"/>
                </a:solidFill>
                <a:latin typeface="Georgia" pitchFamily="34" charset="0"/>
                <a:ea typeface="Georgia" pitchFamily="34" charset="-122"/>
                <a:cs typeface="Georgia" pitchFamily="34" charset="-120"/>
              </a:rPr>
              <a:t>Connecting people to the care they need.</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CareRide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CareRide — A little help, A way forward.</dc:title>
  <dc:subject>HACKVAN2026 proposal</dc:subject>
  <dc:creator>CareRide Team 2</dc:creator>
  <cp:lastModifiedBy>CareRide Team 2</cp:lastModifiedBy>
  <cp:revision>1</cp:revision>
  <dcterms:created xsi:type="dcterms:W3CDTF">2026-10-04T20:58:01Z</dcterms:created>
  <dcterms:modified xsi:type="dcterms:W3CDTF">2026-10-04T20:58:01Z</dcterms:modified>
</cp:coreProperties>
</file>